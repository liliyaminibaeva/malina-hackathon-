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1218882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5" roundtripDataSignature="AMtx7mjHozdSGK+MXJ2retK6TkOdKuXew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customschemas.google.com/relationships/presentationmetadata" Target="metadata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EE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10515600" y="-914400"/>
            <a:ext cx="3200400" cy="3200400"/>
          </a:xfrm>
          <a:prstGeom prst="ellipse">
            <a:avLst/>
          </a:prstGeom>
          <a:solidFill>
            <a:srgbClr val="D48A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-731520" y="5303520"/>
            <a:ext cx="2286000" cy="2286000"/>
          </a:xfrm>
          <a:prstGeom prst="ellipse">
            <a:avLst/>
          </a:prstGeom>
          <a:solidFill>
            <a:srgbClr val="D9C9B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15C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D48A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914400" y="1645920"/>
            <a:ext cx="6858000" cy="73152"/>
          </a:xfrm>
          <a:prstGeom prst="rect">
            <a:avLst/>
          </a:prstGeom>
          <a:solidFill>
            <a:srgbClr val="C15C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841248" y="549693"/>
            <a:ext cx="12573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C15C3A"/>
                </a:solidFill>
                <a:latin typeface="Calibri"/>
                <a:ea typeface="Calibri"/>
                <a:cs typeface="Calibri"/>
                <a:sym typeface="Calibri"/>
              </a:rPr>
              <a:t>🧶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914400" y="1874519"/>
            <a:ext cx="82296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6B4C3B"/>
                </a:solidFill>
                <a:latin typeface="Calibri"/>
                <a:ea typeface="Calibri"/>
                <a:cs typeface="Calibri"/>
                <a:sym typeface="Calibri"/>
              </a:rPr>
              <a:t>AI Knitting Pattern Generator</a:t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914400" y="2834640"/>
            <a:ext cx="101442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800" u="none" cap="none" strike="noStrike">
                <a:solidFill>
                  <a:srgbClr val="6B4C3B"/>
                </a:solidFill>
                <a:latin typeface="Calibri"/>
                <a:ea typeface="Calibri"/>
                <a:cs typeface="Calibri"/>
                <a:sym typeface="Calibri"/>
              </a:rPr>
              <a:t>Generate custom knitting patterns in </a:t>
            </a:r>
            <a:r>
              <a:rPr i="1" lang="en-US" sz="2800">
                <a:solidFill>
                  <a:srgbClr val="6B4C3B"/>
                </a:solidFill>
                <a:latin typeface="Calibri"/>
                <a:ea typeface="Calibri"/>
                <a:cs typeface="Calibri"/>
                <a:sym typeface="Calibri"/>
              </a:rPr>
              <a:t>moments</a:t>
            </a:r>
            <a:r>
              <a:rPr b="0" i="1" lang="en-US" sz="2800" u="none" cap="none" strike="noStrike">
                <a:solidFill>
                  <a:srgbClr val="6B4C3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br>
              <a:rPr b="0" i="1" lang="en-US" sz="2800" u="none" cap="none" strike="noStrike">
                <a:solidFill>
                  <a:srgbClr val="6B4C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2800" u="none" cap="none" strike="noStrike">
                <a:solidFill>
                  <a:srgbClr val="6B4C3B"/>
                </a:solidFill>
                <a:latin typeface="Calibri"/>
                <a:ea typeface="Calibri"/>
                <a:cs typeface="Calibri"/>
                <a:sym typeface="Calibri"/>
              </a:rPr>
              <a:t>Pick an item, configure your style, and let the generator do the rest.</a:t>
            </a:r>
            <a:endParaRPr/>
          </a:p>
        </p:txBody>
      </p:sp>
      <p:sp>
        <p:nvSpPr>
          <p:cNvPr id="92" name="Google Shape;92;p1"/>
          <p:cNvSpPr txBox="1"/>
          <p:nvPr/>
        </p:nvSpPr>
        <p:spPr>
          <a:xfrm>
            <a:off x="6486524" y="6292631"/>
            <a:ext cx="54864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B58A78"/>
                </a:solidFill>
                <a:latin typeface="Calibri"/>
                <a:ea typeface="Calibri"/>
                <a:cs typeface="Calibri"/>
                <a:sym typeface="Calibri"/>
              </a:rPr>
              <a:t>Hackathon 2026</a:t>
            </a:r>
            <a:endParaRPr/>
          </a:p>
        </p:txBody>
      </p:sp>
      <p:sp>
        <p:nvSpPr>
          <p:cNvPr id="93" name="Google Shape;93;p1"/>
          <p:cNvSpPr txBox="1"/>
          <p:nvPr/>
        </p:nvSpPr>
        <p:spPr>
          <a:xfrm>
            <a:off x="1914524" y="482167"/>
            <a:ext cx="9144000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200" u="none" cap="none" strike="noStrike">
                <a:solidFill>
                  <a:srgbClr val="C15C3A"/>
                </a:solidFill>
                <a:latin typeface="Calibri"/>
                <a:ea typeface="Calibri"/>
                <a:cs typeface="Calibri"/>
                <a:sym typeface="Calibri"/>
              </a:rPr>
              <a:t>Malina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5D6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8A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D9C9B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10515600" y="-914400"/>
            <a:ext cx="3200400" cy="3200400"/>
          </a:xfrm>
          <a:prstGeom prst="ellipse">
            <a:avLst/>
          </a:prstGeom>
          <a:solidFill>
            <a:srgbClr val="D48A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2"/>
          <p:cNvSpPr/>
          <p:nvPr/>
        </p:nvSpPr>
        <p:spPr>
          <a:xfrm>
            <a:off x="-731520" y="5303520"/>
            <a:ext cx="2286000" cy="2286000"/>
          </a:xfrm>
          <a:prstGeom prst="ellipse">
            <a:avLst/>
          </a:prstGeom>
          <a:solidFill>
            <a:srgbClr val="D9C9B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2"/>
          <p:cNvSpPr txBox="1"/>
          <p:nvPr/>
        </p:nvSpPr>
        <p:spPr>
          <a:xfrm>
            <a:off x="914400" y="365760"/>
            <a:ext cx="82296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C15C3A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914400" y="1453156"/>
            <a:ext cx="4572000" cy="54864"/>
          </a:xfrm>
          <a:prstGeom prst="rect">
            <a:avLst/>
          </a:prstGeom>
          <a:solidFill>
            <a:srgbClr val="C15C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 txBox="1"/>
          <p:nvPr/>
        </p:nvSpPr>
        <p:spPr>
          <a:xfrm>
            <a:off x="914400" y="1887530"/>
            <a:ext cx="100584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rgbClr val="6B4C3B"/>
                </a:solidFill>
                <a:latin typeface="Calibri"/>
                <a:ea typeface="Calibri"/>
                <a:cs typeface="Calibri"/>
                <a:sym typeface="Calibri"/>
              </a:rPr>
              <a:t>Knitting a custom pattern from scratch is hard — even for experienced knitters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914400" y="2728704"/>
            <a:ext cx="10058400" cy="150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15C3A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b="0" i="0" lang="en-US" sz="2400" u="none" cap="none" strike="noStrike">
                <a:solidFill>
                  <a:srgbClr val="3A2A22"/>
                </a:solidFill>
                <a:latin typeface="Calibri"/>
                <a:ea typeface="Calibri"/>
                <a:cs typeface="Calibri"/>
                <a:sym typeface="Calibri"/>
              </a:rPr>
              <a:t>  Professional patterns need precise stitch counts across </a:t>
            </a:r>
            <a:r>
              <a:rPr lang="en-US" sz="2400">
                <a:solidFill>
                  <a:srgbClr val="3A2A22"/>
                </a:solidFill>
                <a:latin typeface="Calibri"/>
                <a:ea typeface="Calibri"/>
                <a:cs typeface="Calibri"/>
                <a:sym typeface="Calibri"/>
              </a:rPr>
              <a:t>at least </a:t>
            </a:r>
            <a:r>
              <a:rPr b="0" i="0" lang="en-US" sz="2400" u="none" cap="none" strike="noStrike">
                <a:solidFill>
                  <a:srgbClr val="3A2A22"/>
                </a:solidFill>
                <a:latin typeface="Calibri"/>
                <a:ea typeface="Calibri"/>
                <a:cs typeface="Calibri"/>
                <a:sym typeface="Calibri"/>
              </a:rPr>
              <a:t>6 sizes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15C3A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b="0" i="0" lang="en-US" sz="2400" u="none" cap="none" strike="noStrike">
                <a:solidFill>
                  <a:srgbClr val="3A2A22"/>
                </a:solidFill>
                <a:latin typeface="Calibri"/>
                <a:ea typeface="Calibri"/>
                <a:cs typeface="Calibri"/>
                <a:sym typeface="Calibri"/>
              </a:rPr>
              <a:t>  Matching yarn gauge manually takes time and expertise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C15C3A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b="0" i="0" lang="en-US" sz="2400" u="none" cap="none" strike="noStrike">
                <a:solidFill>
                  <a:srgbClr val="3A2A22"/>
                </a:solidFill>
                <a:latin typeface="Calibri"/>
                <a:ea typeface="Calibri"/>
                <a:cs typeface="Calibri"/>
                <a:sym typeface="Calibri"/>
              </a:rPr>
              <a:t>  No tool lets you start from a photo of a style you love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EE4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/>
          <p:nvPr/>
        </p:nvSpPr>
        <p:spPr>
          <a:xfrm>
            <a:off x="10332720" y="-914400"/>
            <a:ext cx="2743200" cy="2743200"/>
          </a:xfrm>
          <a:prstGeom prst="ellipse">
            <a:avLst/>
          </a:prstGeom>
          <a:solidFill>
            <a:srgbClr val="D48A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9619488" y="841248"/>
            <a:ext cx="2450592" cy="2216888"/>
          </a:xfrm>
          <a:prstGeom prst="rect">
            <a:avLst/>
          </a:prstGeom>
          <a:solidFill>
            <a:srgbClr val="EFE5D6"/>
          </a:solidFill>
          <a:ln cap="flat" cmpd="sng" w="19050">
            <a:solidFill>
              <a:srgbClr val="B58A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61774" y="0"/>
            <a:ext cx="236341" cy="7315200"/>
          </a:xfrm>
          <a:prstGeom prst="rect">
            <a:avLst/>
          </a:prstGeom>
          <a:solidFill>
            <a:srgbClr val="D48A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 txBox="1"/>
          <p:nvPr/>
        </p:nvSpPr>
        <p:spPr>
          <a:xfrm>
            <a:off x="548640" y="109728"/>
            <a:ext cx="6400800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C15C3A"/>
                </a:solidFill>
                <a:latin typeface="Calibri"/>
                <a:ea typeface="Calibri"/>
                <a:cs typeface="Calibri"/>
                <a:sym typeface="Calibri"/>
              </a:rPr>
              <a:t>Our Solution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4000">
              <a:solidFill>
                <a:srgbClr val="C15C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/>
          <p:nvPr/>
        </p:nvSpPr>
        <p:spPr>
          <a:xfrm>
            <a:off x="352980" y="2392711"/>
            <a:ext cx="1260000" cy="1260000"/>
          </a:xfrm>
          <a:prstGeom prst="ellipse">
            <a:avLst/>
          </a:prstGeom>
          <a:solidFill>
            <a:srgbClr val="D9C9B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 txBox="1"/>
          <p:nvPr/>
        </p:nvSpPr>
        <p:spPr>
          <a:xfrm>
            <a:off x="1565911" y="2907792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C15C3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16" name="Google Shape;116;p3"/>
          <p:cNvSpPr/>
          <p:nvPr/>
        </p:nvSpPr>
        <p:spPr>
          <a:xfrm>
            <a:off x="2011680" y="841248"/>
            <a:ext cx="3337560" cy="5175504"/>
          </a:xfrm>
          <a:prstGeom prst="rect">
            <a:avLst/>
          </a:prstGeom>
          <a:solidFill>
            <a:srgbClr val="EFE5D6"/>
          </a:solidFill>
          <a:ln cap="flat" cmpd="sng" w="19050">
            <a:solidFill>
              <a:srgbClr val="D48A7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3"/>
          <p:cNvSpPr/>
          <p:nvPr/>
        </p:nvSpPr>
        <p:spPr>
          <a:xfrm>
            <a:off x="2011680" y="841248"/>
            <a:ext cx="3337560" cy="530352"/>
          </a:xfrm>
          <a:prstGeom prst="rect">
            <a:avLst/>
          </a:prstGeom>
          <a:solidFill>
            <a:srgbClr val="D48A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2121408" y="812538"/>
            <a:ext cx="315467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F5EEE4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2121408" y="1087070"/>
            <a:ext cx="315467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>
                <a:solidFill>
                  <a:srgbClr val="F5EEE4"/>
                </a:solidFill>
                <a:latin typeface="Calibri"/>
                <a:ea typeface="Calibri"/>
                <a:cs typeface="Calibri"/>
                <a:sym typeface="Calibri"/>
              </a:rPr>
              <a:t>Next.js App Router</a:t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2121408" y="1499616"/>
            <a:ext cx="3118104" cy="749808"/>
          </a:xfrm>
          <a:prstGeom prst="rect">
            <a:avLst/>
          </a:prstGeom>
          <a:solidFill>
            <a:srgbClr val="F5EEE4"/>
          </a:solidFill>
          <a:ln cap="flat" cmpd="sng" w="10150">
            <a:solidFill>
              <a:srgbClr val="D48A7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 txBox="1"/>
          <p:nvPr/>
        </p:nvSpPr>
        <p:spPr>
          <a:xfrm>
            <a:off x="2212848" y="1554480"/>
            <a:ext cx="29809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3A2A22"/>
                </a:solidFill>
                <a:latin typeface="Calibri"/>
                <a:ea typeface="Calibri"/>
                <a:cs typeface="Calibri"/>
                <a:sym typeface="Calibri"/>
              </a:rPr>
              <a:t>Pick Item</a:t>
            </a:r>
            <a:endParaRPr/>
          </a:p>
        </p:txBody>
      </p:sp>
      <p:sp>
        <p:nvSpPr>
          <p:cNvPr id="122" name="Google Shape;122;p3"/>
          <p:cNvSpPr txBox="1"/>
          <p:nvPr/>
        </p:nvSpPr>
        <p:spPr>
          <a:xfrm>
            <a:off x="2212848" y="1901952"/>
            <a:ext cx="298094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>
                <a:solidFill>
                  <a:srgbClr val="6B4C3B"/>
                </a:solidFill>
                <a:latin typeface="Calibri"/>
                <a:ea typeface="Calibri"/>
                <a:cs typeface="Calibri"/>
                <a:sym typeface="Calibri"/>
              </a:rPr>
              <a:t>8 garment types</a:t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2121408" y="2453480"/>
            <a:ext cx="3118104" cy="749808"/>
          </a:xfrm>
          <a:prstGeom prst="rect">
            <a:avLst/>
          </a:prstGeom>
          <a:solidFill>
            <a:srgbClr val="F5EEE4"/>
          </a:solidFill>
          <a:ln cap="flat" cmpd="sng" w="10150">
            <a:solidFill>
              <a:srgbClr val="D48A7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3"/>
          <p:cNvSpPr txBox="1"/>
          <p:nvPr/>
        </p:nvSpPr>
        <p:spPr>
          <a:xfrm>
            <a:off x="2212848" y="2508344"/>
            <a:ext cx="29809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3A2A22"/>
                </a:solidFill>
                <a:latin typeface="Calibri"/>
                <a:ea typeface="Calibri"/>
                <a:cs typeface="Calibri"/>
                <a:sym typeface="Calibri"/>
              </a:rPr>
              <a:t>Configure Style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2212848" y="2855816"/>
            <a:ext cx="298094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>
                <a:solidFill>
                  <a:srgbClr val="6B4C3B"/>
                </a:solidFill>
                <a:latin typeface="Calibri"/>
                <a:ea typeface="Calibri"/>
                <a:cs typeface="Calibri"/>
                <a:sym typeface="Calibri"/>
              </a:rPr>
              <a:t>form or photo</a:t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2121408" y="3407342"/>
            <a:ext cx="3118104" cy="749808"/>
          </a:xfrm>
          <a:prstGeom prst="rect">
            <a:avLst/>
          </a:prstGeom>
          <a:solidFill>
            <a:srgbClr val="F5EEE4"/>
          </a:solidFill>
          <a:ln cap="flat" cmpd="sng" w="10150">
            <a:solidFill>
              <a:srgbClr val="D48A7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3"/>
          <p:cNvSpPr txBox="1"/>
          <p:nvPr/>
        </p:nvSpPr>
        <p:spPr>
          <a:xfrm>
            <a:off x="2212848" y="3462206"/>
            <a:ext cx="29809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3A2A22"/>
                </a:solidFill>
                <a:latin typeface="Calibri"/>
                <a:ea typeface="Calibri"/>
                <a:cs typeface="Calibri"/>
                <a:sym typeface="Calibri"/>
              </a:rPr>
              <a:t>Select Yarn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2212848" y="3809678"/>
            <a:ext cx="298094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>
                <a:solidFill>
                  <a:srgbClr val="6B4C3B"/>
                </a:solidFill>
                <a:latin typeface="Calibri"/>
                <a:ea typeface="Calibri"/>
                <a:cs typeface="Calibri"/>
                <a:sym typeface="Calibri"/>
              </a:rPr>
              <a:t>search or manual</a:t>
            </a:r>
            <a:endParaRPr/>
          </a:p>
        </p:txBody>
      </p:sp>
      <p:sp>
        <p:nvSpPr>
          <p:cNvPr id="129" name="Google Shape;129;p3"/>
          <p:cNvSpPr/>
          <p:nvPr/>
        </p:nvSpPr>
        <p:spPr>
          <a:xfrm>
            <a:off x="2121408" y="4351579"/>
            <a:ext cx="3118104" cy="749808"/>
          </a:xfrm>
          <a:prstGeom prst="rect">
            <a:avLst/>
          </a:prstGeom>
          <a:solidFill>
            <a:srgbClr val="F5EEE4"/>
          </a:solidFill>
          <a:ln cap="flat" cmpd="sng" w="10150">
            <a:solidFill>
              <a:srgbClr val="D48A7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 txBox="1"/>
          <p:nvPr/>
        </p:nvSpPr>
        <p:spPr>
          <a:xfrm>
            <a:off x="2212848" y="4406443"/>
            <a:ext cx="298094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3A2A22"/>
                </a:solidFill>
                <a:latin typeface="Calibri"/>
                <a:ea typeface="Calibri"/>
                <a:cs typeface="Calibri"/>
                <a:sym typeface="Calibri"/>
              </a:rPr>
              <a:t>Generate Pattern</a:t>
            </a:r>
            <a:endParaRPr/>
          </a:p>
        </p:txBody>
      </p:sp>
      <p:sp>
        <p:nvSpPr>
          <p:cNvPr id="131" name="Google Shape;131;p3"/>
          <p:cNvSpPr txBox="1"/>
          <p:nvPr/>
        </p:nvSpPr>
        <p:spPr>
          <a:xfrm>
            <a:off x="2212848" y="4753915"/>
            <a:ext cx="298094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>
                <a:solidFill>
                  <a:srgbClr val="6B4C3B"/>
                </a:solidFill>
                <a:latin typeface="Calibri"/>
                <a:ea typeface="Calibri"/>
                <a:cs typeface="Calibri"/>
                <a:sym typeface="Calibri"/>
              </a:rPr>
              <a:t>preview &amp; render</a:t>
            </a:r>
            <a:endParaRPr/>
          </a:p>
        </p:txBody>
      </p:sp>
      <p:sp>
        <p:nvSpPr>
          <p:cNvPr id="132" name="Google Shape;132;p3"/>
          <p:cNvSpPr/>
          <p:nvPr/>
        </p:nvSpPr>
        <p:spPr>
          <a:xfrm>
            <a:off x="2121408" y="5606403"/>
            <a:ext cx="960120" cy="274320"/>
          </a:xfrm>
          <a:prstGeom prst="rect">
            <a:avLst/>
          </a:prstGeom>
          <a:solidFill>
            <a:srgbClr val="C15C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3"/>
          <p:cNvSpPr txBox="1"/>
          <p:nvPr/>
        </p:nvSpPr>
        <p:spPr>
          <a:xfrm>
            <a:off x="2157984" y="5621713"/>
            <a:ext cx="8869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5EEE4"/>
                </a:solidFill>
                <a:latin typeface="Calibri"/>
                <a:ea typeface="Calibri"/>
                <a:cs typeface="Calibri"/>
                <a:sym typeface="Calibri"/>
              </a:rPr>
              <a:t>TypeScript</a:t>
            </a:r>
            <a:endParaRPr/>
          </a:p>
        </p:txBody>
      </p:sp>
      <p:sp>
        <p:nvSpPr>
          <p:cNvPr id="134" name="Google Shape;134;p3"/>
          <p:cNvSpPr/>
          <p:nvPr/>
        </p:nvSpPr>
        <p:spPr>
          <a:xfrm>
            <a:off x="3200400" y="5606403"/>
            <a:ext cx="960120" cy="274320"/>
          </a:xfrm>
          <a:prstGeom prst="rect">
            <a:avLst/>
          </a:prstGeom>
          <a:solidFill>
            <a:srgbClr val="D48A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3"/>
          <p:cNvSpPr txBox="1"/>
          <p:nvPr/>
        </p:nvSpPr>
        <p:spPr>
          <a:xfrm>
            <a:off x="3236976" y="5621713"/>
            <a:ext cx="8869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5EEE4"/>
                </a:solidFill>
                <a:latin typeface="Calibri"/>
                <a:ea typeface="Calibri"/>
                <a:cs typeface="Calibri"/>
                <a:sym typeface="Calibri"/>
              </a:rPr>
              <a:t>React</a:t>
            </a:r>
            <a:endParaRPr/>
          </a:p>
        </p:txBody>
      </p:sp>
      <p:sp>
        <p:nvSpPr>
          <p:cNvPr id="136" name="Google Shape;136;p3"/>
          <p:cNvSpPr/>
          <p:nvPr/>
        </p:nvSpPr>
        <p:spPr>
          <a:xfrm>
            <a:off x="4279392" y="5606403"/>
            <a:ext cx="960120" cy="274320"/>
          </a:xfrm>
          <a:prstGeom prst="rect">
            <a:avLst/>
          </a:prstGeom>
          <a:solidFill>
            <a:srgbClr val="B58A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3"/>
          <p:cNvSpPr txBox="1"/>
          <p:nvPr/>
        </p:nvSpPr>
        <p:spPr>
          <a:xfrm>
            <a:off x="4315968" y="5621713"/>
            <a:ext cx="8869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5EEE4"/>
                </a:solidFill>
                <a:latin typeface="Calibri"/>
                <a:ea typeface="Calibri"/>
                <a:cs typeface="Calibri"/>
                <a:sym typeface="Calibri"/>
              </a:rPr>
              <a:t>SVG</a:t>
            </a:r>
            <a:endParaRPr/>
          </a:p>
        </p:txBody>
      </p:sp>
      <p:sp>
        <p:nvSpPr>
          <p:cNvPr id="138" name="Google Shape;138;p3"/>
          <p:cNvSpPr txBox="1"/>
          <p:nvPr/>
        </p:nvSpPr>
        <p:spPr>
          <a:xfrm>
            <a:off x="5394960" y="2894076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C15C3A"/>
                </a:solidFill>
                <a:latin typeface="Calibri"/>
                <a:ea typeface="Calibri"/>
                <a:cs typeface="Calibri"/>
                <a:sym typeface="Calibri"/>
              </a:rPr>
              <a:t>↔</a:t>
            </a:r>
            <a:endParaRPr/>
          </a:p>
        </p:txBody>
      </p:sp>
      <p:sp>
        <p:nvSpPr>
          <p:cNvPr id="139" name="Google Shape;139;p3"/>
          <p:cNvSpPr txBox="1"/>
          <p:nvPr/>
        </p:nvSpPr>
        <p:spPr>
          <a:xfrm>
            <a:off x="5326380" y="3331786"/>
            <a:ext cx="64008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>
                <a:solidFill>
                  <a:srgbClr val="6B4C3B"/>
                </a:solidFill>
                <a:latin typeface="Calibri"/>
                <a:ea typeface="Calibri"/>
                <a:cs typeface="Calibri"/>
                <a:sym typeface="Calibri"/>
              </a:rPr>
              <a:t>HTTP</a:t>
            </a:r>
            <a:endParaRPr/>
          </a:p>
        </p:txBody>
      </p:sp>
      <p:sp>
        <p:nvSpPr>
          <p:cNvPr id="140" name="Google Shape;140;p3"/>
          <p:cNvSpPr/>
          <p:nvPr/>
        </p:nvSpPr>
        <p:spPr>
          <a:xfrm>
            <a:off x="5943600" y="841248"/>
            <a:ext cx="3154800" cy="3805200"/>
          </a:xfrm>
          <a:prstGeom prst="rect">
            <a:avLst/>
          </a:prstGeom>
          <a:solidFill>
            <a:srgbClr val="EFE5D6"/>
          </a:solidFill>
          <a:ln cap="flat" cmpd="sng" w="19050">
            <a:solidFill>
              <a:srgbClr val="C15C3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3"/>
          <p:cNvSpPr/>
          <p:nvPr/>
        </p:nvSpPr>
        <p:spPr>
          <a:xfrm>
            <a:off x="5943600" y="841248"/>
            <a:ext cx="3154680" cy="530352"/>
          </a:xfrm>
          <a:prstGeom prst="rect">
            <a:avLst/>
          </a:prstGeom>
          <a:solidFill>
            <a:srgbClr val="C15C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3"/>
          <p:cNvSpPr txBox="1"/>
          <p:nvPr/>
        </p:nvSpPr>
        <p:spPr>
          <a:xfrm>
            <a:off x="6053328" y="812538"/>
            <a:ext cx="2971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F5EEE4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/>
          </a:p>
        </p:txBody>
      </p:sp>
      <p:sp>
        <p:nvSpPr>
          <p:cNvPr id="143" name="Google Shape;143;p3"/>
          <p:cNvSpPr txBox="1"/>
          <p:nvPr/>
        </p:nvSpPr>
        <p:spPr>
          <a:xfrm>
            <a:off x="6053328" y="1087070"/>
            <a:ext cx="2971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>
                <a:solidFill>
                  <a:srgbClr val="F5EEE4"/>
                </a:solidFill>
                <a:latin typeface="Calibri"/>
                <a:ea typeface="Calibri"/>
                <a:cs typeface="Calibri"/>
                <a:sym typeface="Calibri"/>
              </a:rPr>
              <a:t>API Routes</a:t>
            </a:r>
            <a:endParaRPr/>
          </a:p>
        </p:txBody>
      </p:sp>
      <p:sp>
        <p:nvSpPr>
          <p:cNvPr id="144" name="Google Shape;144;p3"/>
          <p:cNvSpPr/>
          <p:nvPr/>
        </p:nvSpPr>
        <p:spPr>
          <a:xfrm>
            <a:off x="6053328" y="1499616"/>
            <a:ext cx="2935224" cy="749808"/>
          </a:xfrm>
          <a:prstGeom prst="rect">
            <a:avLst/>
          </a:prstGeom>
          <a:solidFill>
            <a:srgbClr val="F5EEE4"/>
          </a:solidFill>
          <a:ln cap="flat" cmpd="sng" w="10150">
            <a:solidFill>
              <a:srgbClr val="C15C3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3"/>
          <p:cNvSpPr txBox="1"/>
          <p:nvPr/>
        </p:nvSpPr>
        <p:spPr>
          <a:xfrm>
            <a:off x="6144768" y="1554480"/>
            <a:ext cx="27980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3A2A22"/>
                </a:solidFill>
                <a:latin typeface="Calibri"/>
                <a:ea typeface="Calibri"/>
                <a:cs typeface="Calibri"/>
                <a:sym typeface="Calibri"/>
              </a:rPr>
              <a:t>Analyze Photo</a:t>
            </a:r>
            <a:endParaRPr/>
          </a:p>
        </p:txBody>
      </p:sp>
      <p:sp>
        <p:nvSpPr>
          <p:cNvPr id="146" name="Google Shape;146;p3"/>
          <p:cNvSpPr txBox="1"/>
          <p:nvPr/>
        </p:nvSpPr>
        <p:spPr>
          <a:xfrm>
            <a:off x="6144768" y="1901952"/>
            <a:ext cx="279806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>
                <a:solidFill>
                  <a:srgbClr val="6B4C3B"/>
                </a:solidFill>
                <a:latin typeface="Calibri"/>
                <a:ea typeface="Calibri"/>
                <a:cs typeface="Calibri"/>
                <a:sym typeface="Calibri"/>
              </a:rPr>
              <a:t>image → style config</a:t>
            </a:r>
            <a:endParaRPr/>
          </a:p>
        </p:txBody>
      </p:sp>
      <p:sp>
        <p:nvSpPr>
          <p:cNvPr id="147" name="Google Shape;147;p3"/>
          <p:cNvSpPr/>
          <p:nvPr/>
        </p:nvSpPr>
        <p:spPr>
          <a:xfrm>
            <a:off x="6053328" y="2395728"/>
            <a:ext cx="2935224" cy="749808"/>
          </a:xfrm>
          <a:prstGeom prst="rect">
            <a:avLst/>
          </a:prstGeom>
          <a:solidFill>
            <a:srgbClr val="F5EEE4"/>
          </a:solidFill>
          <a:ln cap="flat" cmpd="sng" w="10150">
            <a:solidFill>
              <a:srgbClr val="C15C3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3"/>
          <p:cNvSpPr txBox="1"/>
          <p:nvPr/>
        </p:nvSpPr>
        <p:spPr>
          <a:xfrm>
            <a:off x="6144768" y="2450592"/>
            <a:ext cx="27980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3A2A22"/>
                </a:solidFill>
                <a:latin typeface="Calibri"/>
                <a:ea typeface="Calibri"/>
                <a:cs typeface="Calibri"/>
                <a:sym typeface="Calibri"/>
              </a:rPr>
              <a:t>Search Yarn</a:t>
            </a:r>
            <a:endParaRPr/>
          </a:p>
        </p:txBody>
      </p:sp>
      <p:sp>
        <p:nvSpPr>
          <p:cNvPr id="149" name="Google Shape;149;p3"/>
          <p:cNvSpPr txBox="1"/>
          <p:nvPr/>
        </p:nvSpPr>
        <p:spPr>
          <a:xfrm>
            <a:off x="6144768" y="2798064"/>
            <a:ext cx="279806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>
                <a:solidFill>
                  <a:srgbClr val="6B4C3B"/>
                </a:solidFill>
                <a:latin typeface="Calibri"/>
                <a:ea typeface="Calibri"/>
                <a:cs typeface="Calibri"/>
                <a:sym typeface="Calibri"/>
              </a:rPr>
              <a:t>query → yarn results</a:t>
            </a:r>
            <a:endParaRPr/>
          </a:p>
        </p:txBody>
      </p:sp>
      <p:sp>
        <p:nvSpPr>
          <p:cNvPr id="150" name="Google Shape;150;p3"/>
          <p:cNvSpPr/>
          <p:nvPr/>
        </p:nvSpPr>
        <p:spPr>
          <a:xfrm>
            <a:off x="6053328" y="3291840"/>
            <a:ext cx="2935224" cy="749808"/>
          </a:xfrm>
          <a:prstGeom prst="rect">
            <a:avLst/>
          </a:prstGeom>
          <a:solidFill>
            <a:srgbClr val="F5EEE4"/>
          </a:solidFill>
          <a:ln cap="flat" cmpd="sng" w="10150">
            <a:solidFill>
              <a:srgbClr val="C15C3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3"/>
          <p:cNvSpPr txBox="1"/>
          <p:nvPr/>
        </p:nvSpPr>
        <p:spPr>
          <a:xfrm>
            <a:off x="6144768" y="3346704"/>
            <a:ext cx="2798064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3A2A22"/>
                </a:solidFill>
                <a:latin typeface="Calibri"/>
                <a:ea typeface="Calibri"/>
                <a:cs typeface="Calibri"/>
                <a:sym typeface="Calibri"/>
              </a:rPr>
              <a:t>Generate Pattern</a:t>
            </a:r>
            <a:endParaRPr/>
          </a:p>
        </p:txBody>
      </p:sp>
      <p:sp>
        <p:nvSpPr>
          <p:cNvPr id="152" name="Google Shape;152;p3"/>
          <p:cNvSpPr txBox="1"/>
          <p:nvPr/>
        </p:nvSpPr>
        <p:spPr>
          <a:xfrm>
            <a:off x="6144768" y="3694176"/>
            <a:ext cx="279806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>
                <a:solidFill>
                  <a:srgbClr val="6B4C3B"/>
                </a:solidFill>
                <a:latin typeface="Calibri"/>
                <a:ea typeface="Calibri"/>
                <a:cs typeface="Calibri"/>
                <a:sym typeface="Calibri"/>
              </a:rPr>
              <a:t>config → pattern text</a:t>
            </a:r>
            <a:endParaRPr/>
          </a:p>
        </p:txBody>
      </p:sp>
      <p:sp>
        <p:nvSpPr>
          <p:cNvPr id="153" name="Google Shape;153;p3"/>
          <p:cNvSpPr/>
          <p:nvPr/>
        </p:nvSpPr>
        <p:spPr>
          <a:xfrm>
            <a:off x="6053328" y="4196029"/>
            <a:ext cx="960120" cy="274320"/>
          </a:xfrm>
          <a:prstGeom prst="rect">
            <a:avLst/>
          </a:prstGeom>
          <a:solidFill>
            <a:srgbClr val="C15C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3"/>
          <p:cNvSpPr txBox="1"/>
          <p:nvPr/>
        </p:nvSpPr>
        <p:spPr>
          <a:xfrm>
            <a:off x="6089904" y="4200706"/>
            <a:ext cx="8869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5EEE4"/>
                </a:solidFill>
                <a:latin typeface="Calibri"/>
                <a:ea typeface="Calibri"/>
                <a:cs typeface="Calibri"/>
                <a:sym typeface="Calibri"/>
              </a:rPr>
              <a:t>Node.js</a:t>
            </a:r>
            <a:endParaRPr/>
          </a:p>
        </p:txBody>
      </p:sp>
      <p:sp>
        <p:nvSpPr>
          <p:cNvPr id="155" name="Google Shape;155;p3"/>
          <p:cNvSpPr/>
          <p:nvPr/>
        </p:nvSpPr>
        <p:spPr>
          <a:xfrm>
            <a:off x="7059168" y="4196029"/>
            <a:ext cx="960120" cy="274320"/>
          </a:xfrm>
          <a:prstGeom prst="rect">
            <a:avLst/>
          </a:prstGeom>
          <a:solidFill>
            <a:srgbClr val="D48A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3"/>
          <p:cNvSpPr txBox="1"/>
          <p:nvPr/>
        </p:nvSpPr>
        <p:spPr>
          <a:xfrm>
            <a:off x="7095744" y="4200706"/>
            <a:ext cx="8869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5EEE4"/>
                </a:solidFill>
                <a:latin typeface="Calibri"/>
                <a:ea typeface="Calibri"/>
                <a:cs typeface="Calibri"/>
                <a:sym typeface="Calibri"/>
              </a:rPr>
              <a:t>TypeScript</a:t>
            </a:r>
            <a:endParaRPr/>
          </a:p>
        </p:txBody>
      </p:sp>
      <p:sp>
        <p:nvSpPr>
          <p:cNvPr id="157" name="Google Shape;157;p3"/>
          <p:cNvSpPr/>
          <p:nvPr/>
        </p:nvSpPr>
        <p:spPr>
          <a:xfrm>
            <a:off x="8065008" y="4196029"/>
            <a:ext cx="960120" cy="274320"/>
          </a:xfrm>
          <a:prstGeom prst="rect">
            <a:avLst/>
          </a:prstGeom>
          <a:solidFill>
            <a:srgbClr val="B58A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 txBox="1"/>
          <p:nvPr/>
        </p:nvSpPr>
        <p:spPr>
          <a:xfrm>
            <a:off x="8101583" y="4200706"/>
            <a:ext cx="886968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5EEE4"/>
                </a:solidFill>
                <a:latin typeface="Calibri"/>
                <a:ea typeface="Calibri"/>
                <a:cs typeface="Calibri"/>
                <a:sym typeface="Calibri"/>
              </a:rPr>
              <a:t>REST</a:t>
            </a:r>
            <a:endParaRPr/>
          </a:p>
        </p:txBody>
      </p:sp>
      <p:sp>
        <p:nvSpPr>
          <p:cNvPr id="159" name="Google Shape;159;p3"/>
          <p:cNvSpPr/>
          <p:nvPr/>
        </p:nvSpPr>
        <p:spPr>
          <a:xfrm>
            <a:off x="9619488" y="841248"/>
            <a:ext cx="2450592" cy="502920"/>
          </a:xfrm>
          <a:prstGeom prst="rect">
            <a:avLst/>
          </a:prstGeom>
          <a:solidFill>
            <a:srgbClr val="B58A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 txBox="1"/>
          <p:nvPr/>
        </p:nvSpPr>
        <p:spPr>
          <a:xfrm>
            <a:off x="9710928" y="812538"/>
            <a:ext cx="23134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F5EEE4"/>
                </a:solidFill>
                <a:latin typeface="Calibri"/>
                <a:ea typeface="Calibri"/>
                <a:cs typeface="Calibri"/>
                <a:sym typeface="Calibri"/>
              </a:rPr>
              <a:t>Claude AI</a:t>
            </a:r>
            <a:endParaRPr/>
          </a:p>
        </p:txBody>
      </p:sp>
      <p:sp>
        <p:nvSpPr>
          <p:cNvPr id="161" name="Google Shape;161;p3"/>
          <p:cNvSpPr txBox="1"/>
          <p:nvPr/>
        </p:nvSpPr>
        <p:spPr>
          <a:xfrm>
            <a:off x="9710928" y="1050494"/>
            <a:ext cx="231343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600">
                <a:solidFill>
                  <a:srgbClr val="F5EEE4"/>
                </a:solidFill>
                <a:latin typeface="Calibri"/>
                <a:ea typeface="Calibri"/>
                <a:cs typeface="Calibri"/>
                <a:sym typeface="Calibri"/>
              </a:rPr>
              <a:t>Anthropic</a:t>
            </a:r>
            <a:endParaRPr/>
          </a:p>
        </p:txBody>
      </p:sp>
      <p:sp>
        <p:nvSpPr>
          <p:cNvPr id="162" name="Google Shape;162;p3"/>
          <p:cNvSpPr/>
          <p:nvPr/>
        </p:nvSpPr>
        <p:spPr>
          <a:xfrm>
            <a:off x="9710928" y="1435608"/>
            <a:ext cx="2267712" cy="658368"/>
          </a:xfrm>
          <a:prstGeom prst="rect">
            <a:avLst/>
          </a:prstGeom>
          <a:solidFill>
            <a:srgbClr val="F5EEE4"/>
          </a:solidFill>
          <a:ln cap="flat" cmpd="sng" w="9525">
            <a:solidFill>
              <a:srgbClr val="B58A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 txBox="1"/>
          <p:nvPr/>
        </p:nvSpPr>
        <p:spPr>
          <a:xfrm>
            <a:off x="9784080" y="1554480"/>
            <a:ext cx="212140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3A2A22"/>
                </a:solidFill>
                <a:latin typeface="Calibri"/>
                <a:ea typeface="Calibri"/>
                <a:cs typeface="Calibri"/>
                <a:sym typeface="Calibri"/>
              </a:rPr>
              <a:t>Vision — photo analysis</a:t>
            </a:r>
            <a:endParaRPr/>
          </a:p>
        </p:txBody>
      </p:sp>
      <p:sp>
        <p:nvSpPr>
          <p:cNvPr id="164" name="Google Shape;164;p3"/>
          <p:cNvSpPr/>
          <p:nvPr/>
        </p:nvSpPr>
        <p:spPr>
          <a:xfrm>
            <a:off x="9710928" y="2240280"/>
            <a:ext cx="2267712" cy="658368"/>
          </a:xfrm>
          <a:prstGeom prst="rect">
            <a:avLst/>
          </a:prstGeom>
          <a:solidFill>
            <a:srgbClr val="F5EEE4"/>
          </a:solidFill>
          <a:ln cap="flat" cmpd="sng" w="9525">
            <a:solidFill>
              <a:srgbClr val="B58A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 txBox="1"/>
          <p:nvPr/>
        </p:nvSpPr>
        <p:spPr>
          <a:xfrm>
            <a:off x="9784080" y="2359152"/>
            <a:ext cx="212140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>
                <a:solidFill>
                  <a:srgbClr val="3A2A22"/>
                </a:solidFill>
                <a:latin typeface="Calibri"/>
                <a:ea typeface="Calibri"/>
                <a:cs typeface="Calibri"/>
                <a:sym typeface="Calibri"/>
              </a:rPr>
              <a:t>Text — pattern generation</a:t>
            </a:r>
            <a:endParaRPr/>
          </a:p>
        </p:txBody>
      </p:sp>
      <p:sp>
        <p:nvSpPr>
          <p:cNvPr id="166" name="Google Shape;166;p3"/>
          <p:cNvSpPr txBox="1"/>
          <p:nvPr/>
        </p:nvSpPr>
        <p:spPr>
          <a:xfrm>
            <a:off x="548640" y="5933821"/>
            <a:ext cx="18288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6B4C3B"/>
                </a:solidFill>
                <a:latin typeface="Calibri"/>
                <a:ea typeface="Calibri"/>
                <a:cs typeface="Calibri"/>
                <a:sym typeface="Calibri"/>
              </a:rPr>
              <a:t>Data Flow</a:t>
            </a:r>
            <a:endParaRPr/>
          </a:p>
        </p:txBody>
      </p:sp>
      <p:grpSp>
        <p:nvGrpSpPr>
          <p:cNvPr id="167" name="Google Shape;167;p3"/>
          <p:cNvGrpSpPr/>
          <p:nvPr/>
        </p:nvGrpSpPr>
        <p:grpSpPr>
          <a:xfrm>
            <a:off x="548640" y="6327013"/>
            <a:ext cx="1719072" cy="338328"/>
            <a:chOff x="548640" y="6327013"/>
            <a:chExt cx="1719072" cy="338328"/>
          </a:xfrm>
        </p:grpSpPr>
        <p:sp>
          <p:nvSpPr>
            <p:cNvPr id="168" name="Google Shape;168;p3"/>
            <p:cNvSpPr/>
            <p:nvPr/>
          </p:nvSpPr>
          <p:spPr>
            <a:xfrm>
              <a:off x="548640" y="6327013"/>
              <a:ext cx="1719072" cy="338328"/>
            </a:xfrm>
            <a:prstGeom prst="rect">
              <a:avLst/>
            </a:prstGeom>
            <a:solidFill>
              <a:srgbClr val="D48A7E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3"/>
            <p:cNvSpPr txBox="1"/>
            <p:nvPr/>
          </p:nvSpPr>
          <p:spPr>
            <a:xfrm>
              <a:off x="603503" y="6351257"/>
              <a:ext cx="16093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>
                  <a:solidFill>
                    <a:srgbClr val="F5EEE4"/>
                  </a:solidFill>
                  <a:latin typeface="Calibri"/>
                  <a:ea typeface="Calibri"/>
                  <a:cs typeface="Calibri"/>
                  <a:sym typeface="Calibri"/>
                </a:rPr>
                <a:t>Pick &amp; Configure</a:t>
              </a:r>
              <a:endParaRPr/>
            </a:p>
          </p:txBody>
        </p:sp>
      </p:grpSp>
      <p:sp>
        <p:nvSpPr>
          <p:cNvPr id="170" name="Google Shape;170;p3"/>
          <p:cNvSpPr txBox="1"/>
          <p:nvPr/>
        </p:nvSpPr>
        <p:spPr>
          <a:xfrm>
            <a:off x="2267712" y="6290437"/>
            <a:ext cx="201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C15C3A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/>
          </a:p>
        </p:txBody>
      </p:sp>
      <p:grpSp>
        <p:nvGrpSpPr>
          <p:cNvPr id="171" name="Google Shape;171;p3"/>
          <p:cNvGrpSpPr/>
          <p:nvPr/>
        </p:nvGrpSpPr>
        <p:grpSpPr>
          <a:xfrm>
            <a:off x="2468880" y="6327013"/>
            <a:ext cx="1719072" cy="338328"/>
            <a:chOff x="2468880" y="6327013"/>
            <a:chExt cx="1719072" cy="338328"/>
          </a:xfrm>
        </p:grpSpPr>
        <p:sp>
          <p:nvSpPr>
            <p:cNvPr id="172" name="Google Shape;172;p3"/>
            <p:cNvSpPr/>
            <p:nvPr/>
          </p:nvSpPr>
          <p:spPr>
            <a:xfrm>
              <a:off x="2468880" y="6327013"/>
              <a:ext cx="1719072" cy="338328"/>
            </a:xfrm>
            <a:prstGeom prst="rect">
              <a:avLst/>
            </a:prstGeom>
            <a:solidFill>
              <a:srgbClr val="B58A78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3"/>
            <p:cNvSpPr txBox="1"/>
            <p:nvPr/>
          </p:nvSpPr>
          <p:spPr>
            <a:xfrm>
              <a:off x="2523744" y="6351257"/>
              <a:ext cx="16093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>
                  <a:solidFill>
                    <a:srgbClr val="F5EEE4"/>
                  </a:solidFill>
                  <a:latin typeface="Calibri"/>
                  <a:ea typeface="Calibri"/>
                  <a:cs typeface="Calibri"/>
                  <a:sym typeface="Calibri"/>
                </a:rPr>
                <a:t>Select Yarn</a:t>
              </a:r>
              <a:endParaRPr/>
            </a:p>
          </p:txBody>
        </p:sp>
      </p:grpSp>
      <p:sp>
        <p:nvSpPr>
          <p:cNvPr id="174" name="Google Shape;174;p3"/>
          <p:cNvSpPr txBox="1"/>
          <p:nvPr/>
        </p:nvSpPr>
        <p:spPr>
          <a:xfrm>
            <a:off x="4187952" y="6290437"/>
            <a:ext cx="201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C15C3A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/>
          </a:p>
        </p:txBody>
      </p:sp>
      <p:grpSp>
        <p:nvGrpSpPr>
          <p:cNvPr id="175" name="Google Shape;175;p3"/>
          <p:cNvGrpSpPr/>
          <p:nvPr/>
        </p:nvGrpSpPr>
        <p:grpSpPr>
          <a:xfrm>
            <a:off x="4389120" y="6327013"/>
            <a:ext cx="1719072" cy="338328"/>
            <a:chOff x="4389120" y="6327013"/>
            <a:chExt cx="1719072" cy="338328"/>
          </a:xfrm>
        </p:grpSpPr>
        <p:sp>
          <p:nvSpPr>
            <p:cNvPr id="176" name="Google Shape;176;p3"/>
            <p:cNvSpPr/>
            <p:nvPr/>
          </p:nvSpPr>
          <p:spPr>
            <a:xfrm>
              <a:off x="4389120" y="6327013"/>
              <a:ext cx="1719072" cy="338328"/>
            </a:xfrm>
            <a:prstGeom prst="rect">
              <a:avLst/>
            </a:prstGeom>
            <a:solidFill>
              <a:srgbClr val="C15C3A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3"/>
            <p:cNvSpPr txBox="1"/>
            <p:nvPr/>
          </p:nvSpPr>
          <p:spPr>
            <a:xfrm>
              <a:off x="4443983" y="6351257"/>
              <a:ext cx="16093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>
                  <a:solidFill>
                    <a:srgbClr val="F5EEE4"/>
                  </a:solidFill>
                  <a:latin typeface="Calibri"/>
                  <a:ea typeface="Calibri"/>
                  <a:cs typeface="Calibri"/>
                  <a:sym typeface="Calibri"/>
                </a:rPr>
                <a:t>Send to API</a:t>
              </a:r>
              <a:endParaRPr/>
            </a:p>
          </p:txBody>
        </p:sp>
      </p:grpSp>
      <p:sp>
        <p:nvSpPr>
          <p:cNvPr id="178" name="Google Shape;178;p3"/>
          <p:cNvSpPr txBox="1"/>
          <p:nvPr/>
        </p:nvSpPr>
        <p:spPr>
          <a:xfrm>
            <a:off x="6108192" y="6290437"/>
            <a:ext cx="201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C15C3A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/>
          </a:p>
        </p:txBody>
      </p:sp>
      <p:grpSp>
        <p:nvGrpSpPr>
          <p:cNvPr id="179" name="Google Shape;179;p3"/>
          <p:cNvGrpSpPr/>
          <p:nvPr/>
        </p:nvGrpSpPr>
        <p:grpSpPr>
          <a:xfrm>
            <a:off x="6309360" y="6327013"/>
            <a:ext cx="1719072" cy="338328"/>
            <a:chOff x="6309360" y="6327013"/>
            <a:chExt cx="1719072" cy="338328"/>
          </a:xfrm>
        </p:grpSpPr>
        <p:sp>
          <p:nvSpPr>
            <p:cNvPr id="180" name="Google Shape;180;p3"/>
            <p:cNvSpPr/>
            <p:nvPr/>
          </p:nvSpPr>
          <p:spPr>
            <a:xfrm>
              <a:off x="6309360" y="6327013"/>
              <a:ext cx="1719072" cy="338328"/>
            </a:xfrm>
            <a:prstGeom prst="rect">
              <a:avLst/>
            </a:prstGeom>
            <a:solidFill>
              <a:srgbClr val="B58A78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3"/>
            <p:cNvSpPr txBox="1"/>
            <p:nvPr/>
          </p:nvSpPr>
          <p:spPr>
            <a:xfrm>
              <a:off x="6364224" y="6351257"/>
              <a:ext cx="16093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>
                  <a:solidFill>
                    <a:srgbClr val="F5EEE4"/>
                  </a:solidFill>
                  <a:latin typeface="Calibri"/>
                  <a:ea typeface="Calibri"/>
                  <a:cs typeface="Calibri"/>
                  <a:sym typeface="Calibri"/>
                </a:rPr>
                <a:t>Build Prompt</a:t>
              </a:r>
              <a:endParaRPr/>
            </a:p>
          </p:txBody>
        </p:sp>
      </p:grpSp>
      <p:sp>
        <p:nvSpPr>
          <p:cNvPr id="182" name="Google Shape;182;p3"/>
          <p:cNvSpPr txBox="1"/>
          <p:nvPr/>
        </p:nvSpPr>
        <p:spPr>
          <a:xfrm>
            <a:off x="8028432" y="6290437"/>
            <a:ext cx="201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C15C3A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/>
          </a:p>
        </p:txBody>
      </p:sp>
      <p:grpSp>
        <p:nvGrpSpPr>
          <p:cNvPr id="183" name="Google Shape;183;p3"/>
          <p:cNvGrpSpPr/>
          <p:nvPr/>
        </p:nvGrpSpPr>
        <p:grpSpPr>
          <a:xfrm>
            <a:off x="8229600" y="6327013"/>
            <a:ext cx="1719072" cy="338328"/>
            <a:chOff x="8229600" y="6327013"/>
            <a:chExt cx="1719072" cy="338328"/>
          </a:xfrm>
        </p:grpSpPr>
        <p:sp>
          <p:nvSpPr>
            <p:cNvPr id="184" name="Google Shape;184;p3"/>
            <p:cNvSpPr/>
            <p:nvPr/>
          </p:nvSpPr>
          <p:spPr>
            <a:xfrm>
              <a:off x="8229600" y="6327013"/>
              <a:ext cx="1719072" cy="338328"/>
            </a:xfrm>
            <a:prstGeom prst="rect">
              <a:avLst/>
            </a:prstGeom>
            <a:solidFill>
              <a:srgbClr val="C15C3A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3"/>
            <p:cNvSpPr txBox="1"/>
            <p:nvPr/>
          </p:nvSpPr>
          <p:spPr>
            <a:xfrm>
              <a:off x="8284464" y="6351257"/>
              <a:ext cx="16093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>
                  <a:solidFill>
                    <a:srgbClr val="F5EEE4"/>
                  </a:solidFill>
                  <a:latin typeface="Calibri"/>
                  <a:ea typeface="Calibri"/>
                  <a:cs typeface="Calibri"/>
                  <a:sym typeface="Calibri"/>
                </a:rPr>
                <a:t>Claude Generates</a:t>
              </a:r>
              <a:endParaRPr/>
            </a:p>
          </p:txBody>
        </p:sp>
      </p:grpSp>
      <p:sp>
        <p:nvSpPr>
          <p:cNvPr id="186" name="Google Shape;186;p3"/>
          <p:cNvSpPr txBox="1"/>
          <p:nvPr/>
        </p:nvSpPr>
        <p:spPr>
          <a:xfrm>
            <a:off x="9948672" y="6290437"/>
            <a:ext cx="201300" cy="4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C15C3A"/>
                </a:solidFill>
                <a:latin typeface="Calibri"/>
                <a:ea typeface="Calibri"/>
                <a:cs typeface="Calibri"/>
                <a:sym typeface="Calibri"/>
              </a:rPr>
              <a:t>›</a:t>
            </a:r>
            <a:endParaRPr/>
          </a:p>
        </p:txBody>
      </p:sp>
      <p:grpSp>
        <p:nvGrpSpPr>
          <p:cNvPr id="187" name="Google Shape;187;p3"/>
          <p:cNvGrpSpPr/>
          <p:nvPr/>
        </p:nvGrpSpPr>
        <p:grpSpPr>
          <a:xfrm>
            <a:off x="10149840" y="6327013"/>
            <a:ext cx="1719072" cy="338328"/>
            <a:chOff x="10149840" y="6327013"/>
            <a:chExt cx="1719072" cy="338328"/>
          </a:xfrm>
        </p:grpSpPr>
        <p:sp>
          <p:nvSpPr>
            <p:cNvPr id="188" name="Google Shape;188;p3"/>
            <p:cNvSpPr/>
            <p:nvPr/>
          </p:nvSpPr>
          <p:spPr>
            <a:xfrm>
              <a:off x="10149840" y="6327013"/>
              <a:ext cx="1719072" cy="338328"/>
            </a:xfrm>
            <a:prstGeom prst="rect">
              <a:avLst/>
            </a:prstGeom>
            <a:solidFill>
              <a:srgbClr val="7A9E7E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3"/>
            <p:cNvSpPr txBox="1"/>
            <p:nvPr/>
          </p:nvSpPr>
          <p:spPr>
            <a:xfrm>
              <a:off x="10204704" y="6351257"/>
              <a:ext cx="16093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400">
                  <a:solidFill>
                    <a:srgbClr val="F5EEE4"/>
                  </a:solidFill>
                  <a:latin typeface="Calibri"/>
                  <a:ea typeface="Calibri"/>
                  <a:cs typeface="Calibri"/>
                  <a:sym typeface="Calibri"/>
                </a:rPr>
                <a:t>Render &amp; Print</a:t>
              </a:r>
              <a:endParaRPr/>
            </a:p>
          </p:txBody>
        </p:sp>
      </p:grpSp>
      <p:sp>
        <p:nvSpPr>
          <p:cNvPr id="190" name="Google Shape;190;p3"/>
          <p:cNvSpPr txBox="1"/>
          <p:nvPr/>
        </p:nvSpPr>
        <p:spPr>
          <a:xfrm rot="5400000">
            <a:off x="3451860" y="2153412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C15C3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91" name="Google Shape;191;p3"/>
          <p:cNvSpPr txBox="1"/>
          <p:nvPr/>
        </p:nvSpPr>
        <p:spPr>
          <a:xfrm rot="5400000">
            <a:off x="3472950" y="3127317"/>
            <a:ext cx="45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C15C3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92" name="Google Shape;192;p3"/>
          <p:cNvSpPr txBox="1"/>
          <p:nvPr/>
        </p:nvSpPr>
        <p:spPr>
          <a:xfrm rot="5400000">
            <a:off x="3451860" y="4054881"/>
            <a:ext cx="457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C15C3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/>
          </a:p>
        </p:txBody>
      </p:sp>
      <p:sp>
        <p:nvSpPr>
          <p:cNvPr id="193" name="Google Shape;193;p3"/>
          <p:cNvSpPr txBox="1"/>
          <p:nvPr/>
        </p:nvSpPr>
        <p:spPr>
          <a:xfrm>
            <a:off x="9089136" y="3789446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C15C3A"/>
                </a:solidFill>
                <a:latin typeface="Calibri"/>
                <a:ea typeface="Calibri"/>
                <a:cs typeface="Calibri"/>
                <a:sym typeface="Calibri"/>
              </a:rPr>
              <a:t>↔</a:t>
            </a:r>
            <a:endParaRPr/>
          </a:p>
        </p:txBody>
      </p:sp>
      <p:sp>
        <p:nvSpPr>
          <p:cNvPr id="194" name="Google Shape;194;p3"/>
          <p:cNvSpPr txBox="1"/>
          <p:nvPr/>
        </p:nvSpPr>
        <p:spPr>
          <a:xfrm>
            <a:off x="9109337" y="2139255"/>
            <a:ext cx="502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C15C3A"/>
                </a:solidFill>
                <a:latin typeface="Calibri"/>
                <a:ea typeface="Calibri"/>
                <a:cs typeface="Calibri"/>
                <a:sym typeface="Calibri"/>
              </a:rPr>
              <a:t>↔</a:t>
            </a:r>
            <a:endParaRPr/>
          </a:p>
        </p:txBody>
      </p:sp>
      <p:grpSp>
        <p:nvGrpSpPr>
          <p:cNvPr id="195" name="Google Shape;195;p3"/>
          <p:cNvGrpSpPr/>
          <p:nvPr/>
        </p:nvGrpSpPr>
        <p:grpSpPr>
          <a:xfrm>
            <a:off x="9619488" y="3239383"/>
            <a:ext cx="2450700" cy="1407045"/>
            <a:chOff x="9619488" y="3247180"/>
            <a:chExt cx="2450700" cy="1407045"/>
          </a:xfrm>
        </p:grpSpPr>
        <p:sp>
          <p:nvSpPr>
            <p:cNvPr id="196" name="Google Shape;196;p3"/>
            <p:cNvSpPr/>
            <p:nvPr/>
          </p:nvSpPr>
          <p:spPr>
            <a:xfrm>
              <a:off x="9619488" y="3286525"/>
              <a:ext cx="2450700" cy="1367700"/>
            </a:xfrm>
            <a:prstGeom prst="rect">
              <a:avLst/>
            </a:prstGeom>
            <a:solidFill>
              <a:srgbClr val="EFE5D6"/>
            </a:solidFill>
            <a:ln cap="flat" cmpd="sng" w="19050">
              <a:solidFill>
                <a:srgbClr val="7A9E7E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3"/>
            <p:cNvSpPr/>
            <p:nvPr/>
          </p:nvSpPr>
          <p:spPr>
            <a:xfrm>
              <a:off x="9619488" y="3286527"/>
              <a:ext cx="2450592" cy="502920"/>
            </a:xfrm>
            <a:prstGeom prst="rect">
              <a:avLst/>
            </a:prstGeom>
            <a:solidFill>
              <a:srgbClr val="7A9E7E"/>
            </a:solidFill>
            <a:ln>
              <a:noFill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8" name="Google Shape;198;p3"/>
            <p:cNvSpPr/>
            <p:nvPr/>
          </p:nvSpPr>
          <p:spPr>
            <a:xfrm>
              <a:off x="9710928" y="3880884"/>
              <a:ext cx="2267712" cy="658368"/>
            </a:xfrm>
            <a:prstGeom prst="rect">
              <a:avLst/>
            </a:prstGeom>
            <a:solidFill>
              <a:srgbClr val="F5EEE4"/>
            </a:solidFill>
            <a:ln cap="flat" cmpd="sng" w="9525">
              <a:solidFill>
                <a:srgbClr val="7A9E7E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3000">
                <a:srgbClr val="000000">
                  <a:alpha val="34901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3"/>
            <p:cNvSpPr txBox="1"/>
            <p:nvPr/>
          </p:nvSpPr>
          <p:spPr>
            <a:xfrm>
              <a:off x="9784080" y="3999756"/>
              <a:ext cx="212140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600">
                  <a:solidFill>
                    <a:srgbClr val="3A2A22"/>
                  </a:solidFill>
                  <a:latin typeface="Calibri"/>
                  <a:ea typeface="Calibri"/>
                  <a:cs typeface="Calibri"/>
                  <a:sym typeface="Calibri"/>
                </a:rPr>
                <a:t>Yarn search &amp; details</a:t>
              </a:r>
              <a:endParaRPr/>
            </a:p>
          </p:txBody>
        </p:sp>
        <p:sp>
          <p:nvSpPr>
            <p:cNvPr id="200" name="Google Shape;200;p3"/>
            <p:cNvSpPr txBox="1"/>
            <p:nvPr/>
          </p:nvSpPr>
          <p:spPr>
            <a:xfrm>
              <a:off x="9710928" y="3247180"/>
              <a:ext cx="231343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800">
                  <a:solidFill>
                    <a:srgbClr val="F5EEE4"/>
                  </a:solidFill>
                  <a:latin typeface="Calibri"/>
                  <a:ea typeface="Calibri"/>
                  <a:cs typeface="Calibri"/>
                  <a:sym typeface="Calibri"/>
                </a:rPr>
                <a:t>Ravelry</a:t>
              </a:r>
              <a:endParaRPr b="1" i="0" sz="1800">
                <a:solidFill>
                  <a:srgbClr val="F5EEE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3"/>
            <p:cNvSpPr txBox="1"/>
            <p:nvPr/>
          </p:nvSpPr>
          <p:spPr>
            <a:xfrm>
              <a:off x="9710928" y="3495771"/>
              <a:ext cx="2313432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1" lang="en-US" sz="1600">
                  <a:solidFill>
                    <a:srgbClr val="F5EEE4"/>
                  </a:solidFill>
                  <a:latin typeface="Calibri"/>
                  <a:ea typeface="Calibri"/>
                  <a:cs typeface="Calibri"/>
                  <a:sym typeface="Calibri"/>
                </a:rPr>
                <a:t>Yarn Database</a:t>
              </a:r>
              <a:endParaRPr/>
            </a:p>
          </p:txBody>
        </p:sp>
      </p:grpSp>
      <p:sp>
        <p:nvSpPr>
          <p:cNvPr id="202" name="Google Shape;202;p3"/>
          <p:cNvSpPr/>
          <p:nvPr/>
        </p:nvSpPr>
        <p:spPr>
          <a:xfrm>
            <a:off x="2468880" y="5240537"/>
            <a:ext cx="2404213" cy="274320"/>
          </a:xfrm>
          <a:prstGeom prst="rect">
            <a:avLst/>
          </a:prstGeom>
          <a:solidFill>
            <a:srgbClr val="D48A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3"/>
          <p:cNvSpPr txBox="1"/>
          <p:nvPr/>
        </p:nvSpPr>
        <p:spPr>
          <a:xfrm>
            <a:off x="2468880" y="5241400"/>
            <a:ext cx="22210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F5EEE4"/>
                </a:solidFill>
                <a:latin typeface="Calibri"/>
                <a:ea typeface="Calibri"/>
                <a:cs typeface="Calibri"/>
                <a:sym typeface="Calibri"/>
              </a:rPr>
              <a:t>React Context – shared state</a:t>
            </a:r>
            <a:endParaRPr b="1" i="0" sz="1200">
              <a:solidFill>
                <a:srgbClr val="F5EEE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4" name="Google Shape;204;p3"/>
          <p:cNvGrpSpPr/>
          <p:nvPr/>
        </p:nvGrpSpPr>
        <p:grpSpPr>
          <a:xfrm>
            <a:off x="-264221" y="2138991"/>
            <a:ext cx="2540122" cy="1932553"/>
            <a:chOff x="-264221" y="2121957"/>
            <a:chExt cx="2540122" cy="1932553"/>
          </a:xfrm>
        </p:grpSpPr>
        <p:sp>
          <p:nvSpPr>
            <p:cNvPr id="205" name="Google Shape;205;p3"/>
            <p:cNvSpPr txBox="1"/>
            <p:nvPr/>
          </p:nvSpPr>
          <p:spPr>
            <a:xfrm>
              <a:off x="502920" y="3715956"/>
              <a:ext cx="960120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600">
                  <a:solidFill>
                    <a:srgbClr val="6B4C3B"/>
                  </a:solidFill>
                  <a:latin typeface="Calibri"/>
                  <a:ea typeface="Calibri"/>
                  <a:cs typeface="Calibri"/>
                  <a:sym typeface="Calibri"/>
                </a:rPr>
                <a:t>User</a:t>
              </a:r>
              <a:endParaRPr/>
            </a:p>
          </p:txBody>
        </p:sp>
        <p:pic>
          <p:nvPicPr>
            <p:cNvPr descr="A cartoon of a child with a ball of yarn&#10;&#10;AI-generated content may be incorrect." id="206" name="Google Shape;206;p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-264221" y="2121957"/>
              <a:ext cx="2540122" cy="169341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7" name="Google Shape;207;p3"/>
          <p:cNvSpPr/>
          <p:nvPr/>
        </p:nvSpPr>
        <p:spPr>
          <a:xfrm>
            <a:off x="-166341" y="-126025"/>
            <a:ext cx="369300" cy="7099500"/>
          </a:xfrm>
          <a:prstGeom prst="rect">
            <a:avLst/>
          </a:prstGeom>
          <a:solidFill>
            <a:srgbClr val="C15C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"/>
          <p:cNvSpPr/>
          <p:nvPr/>
        </p:nvSpPr>
        <p:spPr>
          <a:xfrm>
            <a:off x="551393" y="710422"/>
            <a:ext cx="4572000" cy="54864"/>
          </a:xfrm>
          <a:prstGeom prst="rect">
            <a:avLst/>
          </a:prstGeom>
          <a:solidFill>
            <a:srgbClr val="C15C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EE4"/>
        </a:solidFill>
      </p:bgPr>
    </p:bg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15C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4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D48A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4"/>
          <p:cNvSpPr/>
          <p:nvPr/>
        </p:nvSpPr>
        <p:spPr>
          <a:xfrm>
            <a:off x="10515600" y="-914400"/>
            <a:ext cx="3200400" cy="3200400"/>
          </a:xfrm>
          <a:prstGeom prst="ellipse">
            <a:avLst/>
          </a:prstGeom>
          <a:solidFill>
            <a:srgbClr val="D48A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4"/>
          <p:cNvSpPr/>
          <p:nvPr/>
        </p:nvSpPr>
        <p:spPr>
          <a:xfrm>
            <a:off x="-731520" y="5303520"/>
            <a:ext cx="2286000" cy="2286000"/>
          </a:xfrm>
          <a:prstGeom prst="ellipse">
            <a:avLst/>
          </a:prstGeom>
          <a:solidFill>
            <a:srgbClr val="D9C9B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4"/>
          <p:cNvSpPr txBox="1"/>
          <p:nvPr/>
        </p:nvSpPr>
        <p:spPr>
          <a:xfrm>
            <a:off x="914400" y="365760"/>
            <a:ext cx="82296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>
                <a:solidFill>
                  <a:srgbClr val="C15C3A"/>
                </a:solidFill>
                <a:latin typeface="Calibri"/>
                <a:ea typeface="Calibri"/>
                <a:cs typeface="Calibri"/>
                <a:sym typeface="Calibri"/>
              </a:rPr>
              <a:t>Our Solution</a:t>
            </a:r>
            <a:endParaRPr/>
          </a:p>
        </p:txBody>
      </p:sp>
      <p:sp>
        <p:nvSpPr>
          <p:cNvPr id="218" name="Google Shape;218;p4"/>
          <p:cNvSpPr/>
          <p:nvPr/>
        </p:nvSpPr>
        <p:spPr>
          <a:xfrm>
            <a:off x="914400" y="1350356"/>
            <a:ext cx="5029200" cy="54864"/>
          </a:xfrm>
          <a:prstGeom prst="rect">
            <a:avLst/>
          </a:prstGeom>
          <a:solidFill>
            <a:srgbClr val="C15C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4"/>
          <p:cNvSpPr txBox="1"/>
          <p:nvPr/>
        </p:nvSpPr>
        <p:spPr>
          <a:xfrm>
            <a:off x="885825" y="1905906"/>
            <a:ext cx="96012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>
                <a:solidFill>
                  <a:srgbClr val="6B4C3B"/>
                </a:solidFill>
                <a:latin typeface="Calibri"/>
                <a:ea typeface="Calibri"/>
                <a:cs typeface="Calibri"/>
                <a:sym typeface="Calibri"/>
              </a:rPr>
              <a:t>Malina generates complete, print-ready knitting patterns in seconds</a:t>
            </a:r>
            <a:endParaRPr/>
          </a:p>
        </p:txBody>
      </p:sp>
      <p:sp>
        <p:nvSpPr>
          <p:cNvPr id="220" name="Google Shape;220;p4"/>
          <p:cNvSpPr txBox="1"/>
          <p:nvPr/>
        </p:nvSpPr>
        <p:spPr>
          <a:xfrm>
            <a:off x="914400" y="2648397"/>
            <a:ext cx="100584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15C3A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2400">
                <a:solidFill>
                  <a:srgbClr val="3A2A22"/>
                </a:solidFill>
                <a:latin typeface="Calibri"/>
                <a:ea typeface="Calibri"/>
                <a:cs typeface="Calibri"/>
                <a:sym typeface="Calibri"/>
              </a:rPr>
              <a:t>   Pick an item: sweater, beanie, scarf, gloves and more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15C3A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2400">
                <a:solidFill>
                  <a:srgbClr val="3A2A22"/>
                </a:solidFill>
                <a:latin typeface="Calibri"/>
                <a:ea typeface="Calibri"/>
                <a:cs typeface="Calibri"/>
                <a:sym typeface="Calibri"/>
              </a:rPr>
              <a:t>   Configure style manually or upload a photo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15C3A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2400">
                <a:solidFill>
                  <a:srgbClr val="3A2A22"/>
                </a:solidFill>
                <a:latin typeface="Calibri"/>
                <a:ea typeface="Calibri"/>
                <a:cs typeface="Calibri"/>
                <a:sym typeface="Calibri"/>
              </a:rPr>
              <a:t>   Search yarn from the list, or enter weight and gauge manually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15C3A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2400">
                <a:solidFill>
                  <a:srgbClr val="3A2A22"/>
                </a:solidFill>
                <a:latin typeface="Calibri"/>
                <a:ea typeface="Calibri"/>
                <a:cs typeface="Calibri"/>
                <a:sym typeface="Calibri"/>
              </a:rPr>
              <a:t>   Get a full pattern, sized XS–XXL, ready to print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5D6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5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8A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D9C9B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 txBox="1"/>
          <p:nvPr/>
        </p:nvSpPr>
        <p:spPr>
          <a:xfrm>
            <a:off x="914400" y="274320"/>
            <a:ext cx="91440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>
                <a:solidFill>
                  <a:srgbClr val="C15C3A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/>
          </a:p>
        </p:txBody>
      </p:sp>
      <p:sp>
        <p:nvSpPr>
          <p:cNvPr id="228" name="Google Shape;228;p5"/>
          <p:cNvSpPr/>
          <p:nvPr/>
        </p:nvSpPr>
        <p:spPr>
          <a:xfrm>
            <a:off x="640080" y="1920240"/>
            <a:ext cx="2606040" cy="2690742"/>
          </a:xfrm>
          <a:prstGeom prst="rect">
            <a:avLst/>
          </a:prstGeom>
          <a:solidFill>
            <a:srgbClr val="F5EEE4"/>
          </a:solidFill>
          <a:ln cap="flat" cmpd="sng" w="25400">
            <a:solidFill>
              <a:srgbClr val="C15C3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5"/>
          <p:cNvSpPr/>
          <p:nvPr/>
        </p:nvSpPr>
        <p:spPr>
          <a:xfrm>
            <a:off x="640080" y="1920240"/>
            <a:ext cx="685800" cy="685800"/>
          </a:xfrm>
          <a:prstGeom prst="rect">
            <a:avLst/>
          </a:prstGeom>
          <a:solidFill>
            <a:srgbClr val="C15C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5"/>
          <p:cNvSpPr txBox="1"/>
          <p:nvPr/>
        </p:nvSpPr>
        <p:spPr>
          <a:xfrm>
            <a:off x="685800" y="196596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F5EEE4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/>
          </a:p>
        </p:txBody>
      </p:sp>
      <p:sp>
        <p:nvSpPr>
          <p:cNvPr id="231" name="Google Shape;231;p5"/>
          <p:cNvSpPr txBox="1"/>
          <p:nvPr/>
        </p:nvSpPr>
        <p:spPr>
          <a:xfrm>
            <a:off x="777240" y="2743200"/>
            <a:ext cx="2286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C15C3A"/>
                </a:solidFill>
                <a:latin typeface="Calibri"/>
                <a:ea typeface="Calibri"/>
                <a:cs typeface="Calibri"/>
                <a:sym typeface="Calibri"/>
              </a:rPr>
              <a:t>Pick</a:t>
            </a:r>
            <a:endParaRPr/>
          </a:p>
        </p:txBody>
      </p:sp>
      <p:sp>
        <p:nvSpPr>
          <p:cNvPr id="232" name="Google Shape;232;p5"/>
          <p:cNvSpPr txBox="1"/>
          <p:nvPr/>
        </p:nvSpPr>
        <p:spPr>
          <a:xfrm>
            <a:off x="777240" y="3383280"/>
            <a:ext cx="233172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6B4C3B"/>
                </a:solidFill>
                <a:latin typeface="Calibri"/>
                <a:ea typeface="Calibri"/>
                <a:cs typeface="Calibri"/>
                <a:sym typeface="Calibri"/>
              </a:rPr>
              <a:t>Choose what to knit:</a:t>
            </a:r>
            <a:br>
              <a:rPr b="0" i="0" lang="en-US" sz="1800">
                <a:solidFill>
                  <a:srgbClr val="6B4C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>
                <a:solidFill>
                  <a:srgbClr val="6B4C3B"/>
                </a:solidFill>
                <a:latin typeface="Calibri"/>
                <a:ea typeface="Calibri"/>
                <a:cs typeface="Calibri"/>
                <a:sym typeface="Calibri"/>
              </a:rPr>
              <a:t>sweater, beanie, scarf,</a:t>
            </a:r>
            <a:br>
              <a:rPr b="0" i="0" lang="en-US" sz="1800">
                <a:solidFill>
                  <a:srgbClr val="6B4C3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>
                <a:solidFill>
                  <a:srgbClr val="6B4C3B"/>
                </a:solidFill>
                <a:latin typeface="Calibri"/>
                <a:ea typeface="Calibri"/>
                <a:cs typeface="Calibri"/>
                <a:sym typeface="Calibri"/>
              </a:rPr>
              <a:t>gloves, hood and more</a:t>
            </a:r>
            <a:endParaRPr b="0" i="0" sz="1800">
              <a:solidFill>
                <a:srgbClr val="6B4C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3474720" y="1920240"/>
            <a:ext cx="2606040" cy="2690742"/>
          </a:xfrm>
          <a:prstGeom prst="rect">
            <a:avLst/>
          </a:prstGeom>
          <a:solidFill>
            <a:srgbClr val="F5EEE4"/>
          </a:solidFill>
          <a:ln cap="flat" cmpd="sng" w="25400">
            <a:solidFill>
              <a:srgbClr val="D48A7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3474720" y="1920240"/>
            <a:ext cx="685800" cy="685800"/>
          </a:xfrm>
          <a:prstGeom prst="rect">
            <a:avLst/>
          </a:prstGeom>
          <a:solidFill>
            <a:srgbClr val="D48A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 txBox="1"/>
          <p:nvPr/>
        </p:nvSpPr>
        <p:spPr>
          <a:xfrm>
            <a:off x="3520440" y="196596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F5EEE4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/>
          </a:p>
        </p:txBody>
      </p:sp>
      <p:sp>
        <p:nvSpPr>
          <p:cNvPr id="236" name="Google Shape;236;p5"/>
          <p:cNvSpPr txBox="1"/>
          <p:nvPr/>
        </p:nvSpPr>
        <p:spPr>
          <a:xfrm>
            <a:off x="3611880" y="2743200"/>
            <a:ext cx="2286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D48A7E"/>
                </a:solidFill>
                <a:latin typeface="Calibri"/>
                <a:ea typeface="Calibri"/>
                <a:cs typeface="Calibri"/>
                <a:sym typeface="Calibri"/>
              </a:rPr>
              <a:t>Configure</a:t>
            </a:r>
            <a:endParaRPr/>
          </a:p>
        </p:txBody>
      </p:sp>
      <p:sp>
        <p:nvSpPr>
          <p:cNvPr id="237" name="Google Shape;237;p5"/>
          <p:cNvSpPr txBox="1"/>
          <p:nvPr/>
        </p:nvSpPr>
        <p:spPr>
          <a:xfrm>
            <a:off x="3611880" y="3383280"/>
            <a:ext cx="233172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6B4C3B"/>
                </a:solidFill>
                <a:latin typeface="Calibri"/>
                <a:ea typeface="Calibri"/>
                <a:cs typeface="Calibri"/>
                <a:sym typeface="Calibri"/>
              </a:rPr>
              <a:t>Set style options manually or upload a photo</a:t>
            </a:r>
            <a:endParaRPr/>
          </a:p>
        </p:txBody>
      </p:sp>
      <p:sp>
        <p:nvSpPr>
          <p:cNvPr id="238" name="Google Shape;238;p5"/>
          <p:cNvSpPr/>
          <p:nvPr/>
        </p:nvSpPr>
        <p:spPr>
          <a:xfrm>
            <a:off x="6309360" y="1920240"/>
            <a:ext cx="2606040" cy="2690742"/>
          </a:xfrm>
          <a:prstGeom prst="rect">
            <a:avLst/>
          </a:prstGeom>
          <a:solidFill>
            <a:srgbClr val="F5EEE4"/>
          </a:solidFill>
          <a:ln cap="flat" cmpd="sng" w="25400">
            <a:solidFill>
              <a:srgbClr val="B58A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6309360" y="1920240"/>
            <a:ext cx="685800" cy="685800"/>
          </a:xfrm>
          <a:prstGeom prst="rect">
            <a:avLst/>
          </a:prstGeom>
          <a:solidFill>
            <a:srgbClr val="B58A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"/>
          <p:cNvSpPr txBox="1"/>
          <p:nvPr/>
        </p:nvSpPr>
        <p:spPr>
          <a:xfrm>
            <a:off x="6355080" y="196596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F5EEE4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/>
          </a:p>
        </p:txBody>
      </p:sp>
      <p:sp>
        <p:nvSpPr>
          <p:cNvPr id="241" name="Google Shape;241;p5"/>
          <p:cNvSpPr txBox="1"/>
          <p:nvPr/>
        </p:nvSpPr>
        <p:spPr>
          <a:xfrm>
            <a:off x="6446520" y="2743200"/>
            <a:ext cx="2286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B58A78"/>
                </a:solidFill>
                <a:latin typeface="Calibri"/>
                <a:ea typeface="Calibri"/>
                <a:cs typeface="Calibri"/>
                <a:sym typeface="Calibri"/>
              </a:rPr>
              <a:t>Yarn</a:t>
            </a:r>
            <a:endParaRPr/>
          </a:p>
        </p:txBody>
      </p:sp>
      <p:sp>
        <p:nvSpPr>
          <p:cNvPr id="242" name="Google Shape;242;p5"/>
          <p:cNvSpPr txBox="1"/>
          <p:nvPr/>
        </p:nvSpPr>
        <p:spPr>
          <a:xfrm>
            <a:off x="6446520" y="3383280"/>
            <a:ext cx="233172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6B4C3B"/>
                </a:solidFill>
                <a:latin typeface="Calibri"/>
                <a:ea typeface="Calibri"/>
                <a:cs typeface="Calibri"/>
                <a:sym typeface="Calibri"/>
              </a:rPr>
              <a:t>Search yarn from the list, or enter weight and gauge manually</a:t>
            </a:r>
            <a:endParaRPr sz="1800">
              <a:solidFill>
                <a:srgbClr val="6B4C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5"/>
          <p:cNvSpPr/>
          <p:nvPr/>
        </p:nvSpPr>
        <p:spPr>
          <a:xfrm>
            <a:off x="9144000" y="1920240"/>
            <a:ext cx="2606040" cy="2690742"/>
          </a:xfrm>
          <a:prstGeom prst="rect">
            <a:avLst/>
          </a:prstGeom>
          <a:solidFill>
            <a:srgbClr val="F5EEE4"/>
          </a:solidFill>
          <a:ln cap="flat" cmpd="sng" w="25400">
            <a:solidFill>
              <a:srgbClr val="7A9E7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5"/>
          <p:cNvSpPr/>
          <p:nvPr/>
        </p:nvSpPr>
        <p:spPr>
          <a:xfrm>
            <a:off x="9144000" y="1920240"/>
            <a:ext cx="685800" cy="685800"/>
          </a:xfrm>
          <a:prstGeom prst="rect">
            <a:avLst/>
          </a:prstGeom>
          <a:solidFill>
            <a:srgbClr val="7A9E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5"/>
          <p:cNvSpPr txBox="1"/>
          <p:nvPr/>
        </p:nvSpPr>
        <p:spPr>
          <a:xfrm>
            <a:off x="9189720" y="196596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F5EEE4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/>
          </a:p>
        </p:txBody>
      </p:sp>
      <p:sp>
        <p:nvSpPr>
          <p:cNvPr id="246" name="Google Shape;246;p5"/>
          <p:cNvSpPr txBox="1"/>
          <p:nvPr/>
        </p:nvSpPr>
        <p:spPr>
          <a:xfrm>
            <a:off x="9281160" y="2743200"/>
            <a:ext cx="2286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>
                <a:solidFill>
                  <a:srgbClr val="7A9E7E"/>
                </a:solidFill>
                <a:latin typeface="Calibri"/>
                <a:ea typeface="Calibri"/>
                <a:cs typeface="Calibri"/>
                <a:sym typeface="Calibri"/>
              </a:rPr>
              <a:t>Generate</a:t>
            </a:r>
            <a:endParaRPr/>
          </a:p>
        </p:txBody>
      </p:sp>
      <p:sp>
        <p:nvSpPr>
          <p:cNvPr id="247" name="Google Shape;247;p5"/>
          <p:cNvSpPr txBox="1"/>
          <p:nvPr/>
        </p:nvSpPr>
        <p:spPr>
          <a:xfrm>
            <a:off x="9281160" y="3383280"/>
            <a:ext cx="2331720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>
                <a:solidFill>
                  <a:srgbClr val="6B4C3B"/>
                </a:solidFill>
                <a:latin typeface="Calibri"/>
                <a:ea typeface="Calibri"/>
                <a:cs typeface="Calibri"/>
                <a:sym typeface="Calibri"/>
              </a:rPr>
              <a:t>Get a full pattern ready to print</a:t>
            </a:r>
            <a:endParaRPr b="0" i="0" sz="1800">
              <a:solidFill>
                <a:srgbClr val="6B4C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5"/>
          <p:cNvSpPr/>
          <p:nvPr/>
        </p:nvSpPr>
        <p:spPr>
          <a:xfrm>
            <a:off x="914400" y="1119366"/>
            <a:ext cx="5029200" cy="54864"/>
          </a:xfrm>
          <a:prstGeom prst="rect">
            <a:avLst/>
          </a:prstGeom>
          <a:solidFill>
            <a:srgbClr val="C15C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88274" y="1393071"/>
            <a:ext cx="7772400" cy="3979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F5EEE4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7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15C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D48A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10515600" y="-914400"/>
            <a:ext cx="3200400" cy="3200400"/>
          </a:xfrm>
          <a:prstGeom prst="ellipse">
            <a:avLst/>
          </a:prstGeom>
          <a:solidFill>
            <a:srgbClr val="D48A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-731520" y="5303520"/>
            <a:ext cx="2286000" cy="2286000"/>
          </a:xfrm>
          <a:prstGeom prst="ellipse">
            <a:avLst/>
          </a:prstGeom>
          <a:solidFill>
            <a:srgbClr val="D9C9B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 txBox="1"/>
          <p:nvPr/>
        </p:nvSpPr>
        <p:spPr>
          <a:xfrm>
            <a:off x="914400" y="365760"/>
            <a:ext cx="82296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>
                <a:solidFill>
                  <a:srgbClr val="C15C3A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/>
          </a:p>
        </p:txBody>
      </p:sp>
      <p:sp>
        <p:nvSpPr>
          <p:cNvPr id="263" name="Google Shape;263;p7"/>
          <p:cNvSpPr/>
          <p:nvPr/>
        </p:nvSpPr>
        <p:spPr>
          <a:xfrm>
            <a:off x="914400" y="1508760"/>
            <a:ext cx="10058400" cy="640080"/>
          </a:xfrm>
          <a:prstGeom prst="rect">
            <a:avLst/>
          </a:prstGeom>
          <a:solidFill>
            <a:srgbClr val="EFE5D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 txBox="1"/>
          <p:nvPr/>
        </p:nvSpPr>
        <p:spPr>
          <a:xfrm>
            <a:off x="1051560" y="1639064"/>
            <a:ext cx="4114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3A2A22"/>
                </a:solidFill>
                <a:latin typeface="Calibri"/>
                <a:ea typeface="Calibri"/>
                <a:cs typeface="Calibri"/>
                <a:sym typeface="Calibri"/>
              </a:rPr>
              <a:t>Next.js + TypeScript</a:t>
            </a:r>
            <a:endParaRPr/>
          </a:p>
        </p:txBody>
      </p:sp>
      <p:sp>
        <p:nvSpPr>
          <p:cNvPr id="265" name="Google Shape;265;p7"/>
          <p:cNvSpPr txBox="1"/>
          <p:nvPr/>
        </p:nvSpPr>
        <p:spPr>
          <a:xfrm>
            <a:off x="5394960" y="1639064"/>
            <a:ext cx="53035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>
                <a:solidFill>
                  <a:srgbClr val="6B4C3B"/>
                </a:solidFill>
                <a:latin typeface="Calibri"/>
                <a:ea typeface="Calibri"/>
                <a:cs typeface="Calibri"/>
                <a:sym typeface="Calibri"/>
              </a:rPr>
              <a:t>Frontend &amp; API routes (App Router)</a:t>
            </a:r>
            <a:endParaRPr/>
          </a:p>
        </p:txBody>
      </p:sp>
      <p:sp>
        <p:nvSpPr>
          <p:cNvPr id="266" name="Google Shape;266;p7"/>
          <p:cNvSpPr/>
          <p:nvPr/>
        </p:nvSpPr>
        <p:spPr>
          <a:xfrm>
            <a:off x="914400" y="2258568"/>
            <a:ext cx="10058400" cy="640080"/>
          </a:xfrm>
          <a:prstGeom prst="rect">
            <a:avLst/>
          </a:prstGeom>
          <a:solidFill>
            <a:srgbClr val="EFE5D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 txBox="1"/>
          <p:nvPr/>
        </p:nvSpPr>
        <p:spPr>
          <a:xfrm>
            <a:off x="1051560" y="2388872"/>
            <a:ext cx="4114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3A2A22"/>
                </a:solidFill>
                <a:latin typeface="Calibri"/>
                <a:ea typeface="Calibri"/>
                <a:cs typeface="Calibri"/>
                <a:sym typeface="Calibri"/>
              </a:rPr>
              <a:t>Tailwind CSS v4</a:t>
            </a:r>
            <a:endParaRPr/>
          </a:p>
        </p:txBody>
      </p:sp>
      <p:sp>
        <p:nvSpPr>
          <p:cNvPr id="268" name="Google Shape;268;p7"/>
          <p:cNvSpPr txBox="1"/>
          <p:nvPr/>
        </p:nvSpPr>
        <p:spPr>
          <a:xfrm>
            <a:off x="5394960" y="2388872"/>
            <a:ext cx="53035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>
                <a:solidFill>
                  <a:srgbClr val="6B4C3B"/>
                </a:solidFill>
                <a:latin typeface="Calibri"/>
                <a:ea typeface="Calibri"/>
                <a:cs typeface="Calibri"/>
                <a:sym typeface="Calibri"/>
              </a:rPr>
              <a:t>Styling &amp; responsive layout</a:t>
            </a:r>
            <a:endParaRPr/>
          </a:p>
        </p:txBody>
      </p:sp>
      <p:sp>
        <p:nvSpPr>
          <p:cNvPr id="269" name="Google Shape;269;p7"/>
          <p:cNvSpPr/>
          <p:nvPr/>
        </p:nvSpPr>
        <p:spPr>
          <a:xfrm>
            <a:off x="914400" y="3008376"/>
            <a:ext cx="10058400" cy="640080"/>
          </a:xfrm>
          <a:prstGeom prst="rect">
            <a:avLst/>
          </a:prstGeom>
          <a:solidFill>
            <a:srgbClr val="EFE5D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 txBox="1"/>
          <p:nvPr/>
        </p:nvSpPr>
        <p:spPr>
          <a:xfrm>
            <a:off x="1051560" y="3138680"/>
            <a:ext cx="4114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3A2A22"/>
                </a:solidFill>
                <a:latin typeface="Calibri"/>
                <a:ea typeface="Calibri"/>
                <a:cs typeface="Calibri"/>
                <a:sym typeface="Calibri"/>
              </a:rPr>
              <a:t>Claude API (Anthropic)</a:t>
            </a:r>
            <a:endParaRPr/>
          </a:p>
        </p:txBody>
      </p:sp>
      <p:sp>
        <p:nvSpPr>
          <p:cNvPr id="271" name="Google Shape;271;p7"/>
          <p:cNvSpPr txBox="1"/>
          <p:nvPr/>
        </p:nvSpPr>
        <p:spPr>
          <a:xfrm>
            <a:off x="5394960" y="3138680"/>
            <a:ext cx="53035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>
                <a:solidFill>
                  <a:srgbClr val="6B4C3B"/>
                </a:solidFill>
                <a:latin typeface="Calibri"/>
                <a:ea typeface="Calibri"/>
                <a:cs typeface="Calibri"/>
                <a:sym typeface="Calibri"/>
              </a:rPr>
              <a:t>Photo vision analysis + pattern generation</a:t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914400" y="3758183"/>
            <a:ext cx="10058400" cy="640080"/>
          </a:xfrm>
          <a:prstGeom prst="rect">
            <a:avLst/>
          </a:prstGeom>
          <a:solidFill>
            <a:srgbClr val="EFE5D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 txBox="1"/>
          <p:nvPr/>
        </p:nvSpPr>
        <p:spPr>
          <a:xfrm>
            <a:off x="1051560" y="3888487"/>
            <a:ext cx="4114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3A2A22"/>
                </a:solidFill>
                <a:latin typeface="Calibri"/>
                <a:ea typeface="Calibri"/>
                <a:cs typeface="Calibri"/>
                <a:sym typeface="Calibri"/>
              </a:rPr>
              <a:t>Ravelry API</a:t>
            </a:r>
            <a:endParaRPr/>
          </a:p>
        </p:txBody>
      </p:sp>
      <p:sp>
        <p:nvSpPr>
          <p:cNvPr id="274" name="Google Shape;274;p7"/>
          <p:cNvSpPr txBox="1"/>
          <p:nvPr/>
        </p:nvSpPr>
        <p:spPr>
          <a:xfrm>
            <a:off x="5394960" y="3888487"/>
            <a:ext cx="53035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>
                <a:solidFill>
                  <a:srgbClr val="6B4C3B"/>
                </a:solidFill>
                <a:latin typeface="Calibri"/>
                <a:ea typeface="Calibri"/>
                <a:cs typeface="Calibri"/>
                <a:sym typeface="Calibri"/>
              </a:rPr>
              <a:t>Yarn database — weight, gauge, needle size</a:t>
            </a:r>
            <a:endParaRPr/>
          </a:p>
        </p:txBody>
      </p:sp>
      <p:sp>
        <p:nvSpPr>
          <p:cNvPr id="275" name="Google Shape;275;p7"/>
          <p:cNvSpPr/>
          <p:nvPr/>
        </p:nvSpPr>
        <p:spPr>
          <a:xfrm>
            <a:off x="914400" y="4507992"/>
            <a:ext cx="10058400" cy="640080"/>
          </a:xfrm>
          <a:prstGeom prst="rect">
            <a:avLst/>
          </a:prstGeom>
          <a:solidFill>
            <a:srgbClr val="EFE5D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 txBox="1"/>
          <p:nvPr/>
        </p:nvSpPr>
        <p:spPr>
          <a:xfrm>
            <a:off x="1051560" y="4638296"/>
            <a:ext cx="4114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3A2A22"/>
                </a:solidFill>
                <a:latin typeface="Calibri"/>
                <a:ea typeface="Calibri"/>
                <a:cs typeface="Calibri"/>
                <a:sym typeface="Calibri"/>
              </a:rPr>
              <a:t>react-hook-form</a:t>
            </a:r>
            <a:endParaRPr/>
          </a:p>
        </p:txBody>
      </p:sp>
      <p:sp>
        <p:nvSpPr>
          <p:cNvPr id="277" name="Google Shape;277;p7"/>
          <p:cNvSpPr txBox="1"/>
          <p:nvPr/>
        </p:nvSpPr>
        <p:spPr>
          <a:xfrm>
            <a:off x="5394960" y="4638296"/>
            <a:ext cx="53035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>
                <a:solidFill>
                  <a:srgbClr val="6B4C3B"/>
                </a:solidFill>
                <a:latin typeface="Calibri"/>
                <a:ea typeface="Calibri"/>
                <a:cs typeface="Calibri"/>
                <a:sym typeface="Calibri"/>
              </a:rPr>
              <a:t>Form state management</a:t>
            </a: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914400" y="5257800"/>
            <a:ext cx="10058400" cy="640080"/>
          </a:xfrm>
          <a:prstGeom prst="rect">
            <a:avLst/>
          </a:prstGeom>
          <a:solidFill>
            <a:srgbClr val="EFE5D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 txBox="1"/>
          <p:nvPr/>
        </p:nvSpPr>
        <p:spPr>
          <a:xfrm>
            <a:off x="1051560" y="5388104"/>
            <a:ext cx="41148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>
                <a:solidFill>
                  <a:srgbClr val="3A2A22"/>
                </a:solidFill>
                <a:latin typeface="Calibri"/>
                <a:ea typeface="Calibri"/>
                <a:cs typeface="Calibri"/>
                <a:sym typeface="Calibri"/>
              </a:rPr>
              <a:t>Browser Print API</a:t>
            </a:r>
            <a:endParaRPr/>
          </a:p>
        </p:txBody>
      </p:sp>
      <p:sp>
        <p:nvSpPr>
          <p:cNvPr id="280" name="Google Shape;280;p7"/>
          <p:cNvSpPr txBox="1"/>
          <p:nvPr/>
        </p:nvSpPr>
        <p:spPr>
          <a:xfrm>
            <a:off x="5394960" y="5388104"/>
            <a:ext cx="53035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800">
                <a:solidFill>
                  <a:srgbClr val="6B4C3B"/>
                </a:solidFill>
                <a:latin typeface="Calibri"/>
                <a:ea typeface="Calibri"/>
                <a:cs typeface="Calibri"/>
                <a:sym typeface="Calibri"/>
              </a:rPr>
              <a:t>PDF export — no backend needed</a:t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914400" y="1119366"/>
            <a:ext cx="5029200" cy="54864"/>
          </a:xfrm>
          <a:prstGeom prst="rect">
            <a:avLst/>
          </a:prstGeom>
          <a:solidFill>
            <a:srgbClr val="C15C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5D6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8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48A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D9C9B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 txBox="1"/>
          <p:nvPr/>
        </p:nvSpPr>
        <p:spPr>
          <a:xfrm>
            <a:off x="914400" y="365760"/>
            <a:ext cx="82296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>
                <a:solidFill>
                  <a:srgbClr val="C15C3A"/>
                </a:solidFill>
                <a:latin typeface="Calibri"/>
                <a:ea typeface="Calibri"/>
                <a:cs typeface="Calibri"/>
                <a:sym typeface="Calibri"/>
              </a:rPr>
              <a:t>Status</a:t>
            </a:r>
            <a:endParaRPr b="1" i="0" sz="3800">
              <a:solidFill>
                <a:srgbClr val="C15C3A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713232" y="1590205"/>
            <a:ext cx="5029200" cy="4557375"/>
          </a:xfrm>
          <a:prstGeom prst="rect">
            <a:avLst/>
          </a:prstGeom>
          <a:solidFill>
            <a:srgbClr val="F5EE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713232" y="1590206"/>
            <a:ext cx="5029200" cy="594360"/>
          </a:xfrm>
          <a:prstGeom prst="rect">
            <a:avLst/>
          </a:prstGeom>
          <a:solidFill>
            <a:srgbClr val="7A9E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 txBox="1"/>
          <p:nvPr/>
        </p:nvSpPr>
        <p:spPr>
          <a:xfrm>
            <a:off x="896112" y="1635926"/>
            <a:ext cx="475488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F5EEE4"/>
                </a:solidFill>
                <a:latin typeface="Calibri"/>
                <a:ea typeface="Calibri"/>
                <a:cs typeface="Calibri"/>
                <a:sym typeface="Calibri"/>
              </a:rPr>
              <a:t>What's Working</a:t>
            </a:r>
            <a:endParaRPr/>
          </a:p>
        </p:txBody>
      </p:sp>
      <p:sp>
        <p:nvSpPr>
          <p:cNvPr id="292" name="Google Shape;292;p8"/>
          <p:cNvSpPr txBox="1"/>
          <p:nvPr/>
        </p:nvSpPr>
        <p:spPr>
          <a:xfrm>
            <a:off x="941832" y="2321726"/>
            <a:ext cx="4572000" cy="3191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7A9E7E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2400">
                <a:solidFill>
                  <a:srgbClr val="3A2A22"/>
                </a:solidFill>
                <a:latin typeface="Calibri"/>
                <a:ea typeface="Calibri"/>
                <a:cs typeface="Calibri"/>
                <a:sym typeface="Calibri"/>
              </a:rPr>
              <a:t> Complete 4-step flow end-to-end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7A9E7E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2400">
                <a:solidFill>
                  <a:srgbClr val="3A2A22"/>
                </a:solidFill>
                <a:latin typeface="Calibri"/>
                <a:ea typeface="Calibri"/>
                <a:cs typeface="Calibri"/>
                <a:sym typeface="Calibri"/>
              </a:rPr>
              <a:t> Photo upload + Claude vision analysis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7A9E7E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2400">
                <a:solidFill>
                  <a:srgbClr val="3A2A22"/>
                </a:solidFill>
                <a:latin typeface="Calibri"/>
                <a:ea typeface="Calibri"/>
                <a:cs typeface="Calibri"/>
                <a:sym typeface="Calibri"/>
              </a:rPr>
              <a:t> Pattern generation for 7 item types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7A9E7E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2400">
                <a:solidFill>
                  <a:srgbClr val="3A2A22"/>
                </a:solidFill>
                <a:latin typeface="Calibri"/>
                <a:ea typeface="Calibri"/>
                <a:cs typeface="Calibri"/>
                <a:sym typeface="Calibri"/>
              </a:rPr>
              <a:t> Yarn search via Ravelry API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7A9E7E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2400">
                <a:solidFill>
                  <a:srgbClr val="3A2A22"/>
                </a:solidFill>
                <a:latin typeface="Calibri"/>
                <a:ea typeface="Calibri"/>
                <a:cs typeface="Calibri"/>
                <a:sym typeface="Calibri"/>
              </a:rPr>
              <a:t> Print / Save as PDF</a:t>
            </a:r>
            <a:endParaRPr/>
          </a:p>
        </p:txBody>
      </p:sp>
      <p:sp>
        <p:nvSpPr>
          <p:cNvPr id="293" name="Google Shape;293;p8"/>
          <p:cNvSpPr/>
          <p:nvPr/>
        </p:nvSpPr>
        <p:spPr>
          <a:xfrm>
            <a:off x="6291072" y="1590206"/>
            <a:ext cx="5029200" cy="4557376"/>
          </a:xfrm>
          <a:prstGeom prst="rect">
            <a:avLst/>
          </a:prstGeom>
          <a:solidFill>
            <a:srgbClr val="F5EEE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6291072" y="1590206"/>
            <a:ext cx="5029200" cy="594360"/>
          </a:xfrm>
          <a:prstGeom prst="rect">
            <a:avLst/>
          </a:prstGeom>
          <a:solidFill>
            <a:srgbClr val="C15C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 txBox="1"/>
          <p:nvPr/>
        </p:nvSpPr>
        <p:spPr>
          <a:xfrm>
            <a:off x="6473952" y="1635926"/>
            <a:ext cx="475488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>
                <a:solidFill>
                  <a:srgbClr val="F5EEE4"/>
                </a:solidFill>
                <a:latin typeface="Calibri"/>
                <a:ea typeface="Calibri"/>
                <a:cs typeface="Calibri"/>
                <a:sym typeface="Calibri"/>
              </a:rPr>
              <a:t> What's Next</a:t>
            </a:r>
            <a:endParaRPr/>
          </a:p>
        </p:txBody>
      </p:sp>
      <p:sp>
        <p:nvSpPr>
          <p:cNvPr id="296" name="Google Shape;296;p8"/>
          <p:cNvSpPr txBox="1"/>
          <p:nvPr/>
        </p:nvSpPr>
        <p:spPr>
          <a:xfrm>
            <a:off x="6473952" y="2321726"/>
            <a:ext cx="4572000" cy="33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15C3A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2400">
                <a:solidFill>
                  <a:srgbClr val="3A2A22"/>
                </a:solidFill>
                <a:latin typeface="Calibri"/>
                <a:ea typeface="Calibri"/>
                <a:cs typeface="Calibri"/>
                <a:sym typeface="Calibri"/>
              </a:rPr>
              <a:t> More items (cardigan, socks, pants, shorts)</a:t>
            </a:r>
            <a:endParaRPr sz="2400">
              <a:solidFill>
                <a:srgbClr val="3A2A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15C3A"/>
                </a:solidFill>
                <a:latin typeface="Calibri"/>
                <a:ea typeface="Calibri"/>
                <a:cs typeface="Calibri"/>
                <a:sym typeface="Calibri"/>
              </a:rPr>
              <a:t>• </a:t>
            </a:r>
            <a:r>
              <a:rPr lang="en-US" sz="2400">
                <a:solidFill>
                  <a:srgbClr val="3A2A22"/>
                </a:solidFill>
                <a:latin typeface="Calibri"/>
                <a:ea typeface="Calibri"/>
                <a:cs typeface="Calibri"/>
                <a:sym typeface="Calibri"/>
              </a:rPr>
              <a:t>Life-like mockup generation</a:t>
            </a:r>
            <a:endParaRPr sz="2400">
              <a:solidFill>
                <a:srgbClr val="3A2A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15C3A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2400">
                <a:solidFill>
                  <a:srgbClr val="3A2A22"/>
                </a:solidFill>
                <a:latin typeface="Calibri"/>
                <a:ea typeface="Calibri"/>
                <a:cs typeface="Calibri"/>
                <a:sym typeface="Calibri"/>
              </a:rPr>
              <a:t> Ravelry pattern similarity search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15C3A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2400">
                <a:solidFill>
                  <a:srgbClr val="3A2A22"/>
                </a:solidFill>
                <a:latin typeface="Calibri"/>
                <a:ea typeface="Calibri"/>
                <a:cs typeface="Calibri"/>
                <a:sym typeface="Calibri"/>
              </a:rPr>
              <a:t> Saved patterns &amp; user accounts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15C3A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2400">
                <a:solidFill>
                  <a:srgbClr val="3A2A22"/>
                </a:solidFill>
                <a:latin typeface="Calibri"/>
                <a:ea typeface="Calibri"/>
                <a:cs typeface="Calibri"/>
                <a:sym typeface="Calibri"/>
              </a:rPr>
              <a:t> Mobile</a:t>
            </a:r>
            <a:endParaRPr sz="2400">
              <a:solidFill>
                <a:srgbClr val="3A2A2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15C3A"/>
                </a:solidFill>
                <a:latin typeface="Calibri"/>
                <a:ea typeface="Calibri"/>
                <a:cs typeface="Calibri"/>
                <a:sym typeface="Calibri"/>
              </a:rPr>
              <a:t>•</a:t>
            </a:r>
            <a:r>
              <a:rPr lang="en-US" sz="2400">
                <a:solidFill>
                  <a:srgbClr val="3A2A22"/>
                </a:solidFill>
                <a:latin typeface="Calibri"/>
                <a:ea typeface="Calibri"/>
                <a:cs typeface="Calibri"/>
                <a:sym typeface="Calibri"/>
              </a:rPr>
              <a:t> Diagrams in pattern pdf</a:t>
            </a:r>
            <a:endParaRPr sz="2400">
              <a:solidFill>
                <a:srgbClr val="3A2A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914400" y="1119366"/>
            <a:ext cx="5029200" cy="54864"/>
          </a:xfrm>
          <a:prstGeom prst="rect">
            <a:avLst/>
          </a:prstGeom>
          <a:solidFill>
            <a:srgbClr val="C15C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5EEE4"/>
        </a:solidFill>
      </p:bgPr>
    </p:bg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9"/>
          <p:cNvSpPr/>
          <p:nvPr/>
        </p:nvSpPr>
        <p:spPr>
          <a:xfrm>
            <a:off x="0" y="5029200"/>
            <a:ext cx="12188952" cy="1828800"/>
          </a:xfrm>
          <a:prstGeom prst="rect">
            <a:avLst/>
          </a:prstGeom>
          <a:solidFill>
            <a:srgbClr val="C15C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C15C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9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D48A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10515600" y="-914400"/>
            <a:ext cx="3200400" cy="3200400"/>
          </a:xfrm>
          <a:prstGeom prst="ellipse">
            <a:avLst/>
          </a:prstGeom>
          <a:solidFill>
            <a:srgbClr val="D48A7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9"/>
          <p:cNvSpPr/>
          <p:nvPr/>
        </p:nvSpPr>
        <p:spPr>
          <a:xfrm>
            <a:off x="-731520" y="5303520"/>
            <a:ext cx="2286000" cy="2286000"/>
          </a:xfrm>
          <a:prstGeom prst="ellipse">
            <a:avLst/>
          </a:prstGeom>
          <a:solidFill>
            <a:srgbClr val="D9C9B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 txBox="1"/>
          <p:nvPr/>
        </p:nvSpPr>
        <p:spPr>
          <a:xfrm>
            <a:off x="7046659" y="2680394"/>
            <a:ext cx="1449260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>
                <a:solidFill>
                  <a:srgbClr val="C15C3A"/>
                </a:solidFill>
                <a:latin typeface="Calibri"/>
                <a:ea typeface="Calibri"/>
                <a:cs typeface="Calibri"/>
                <a:sym typeface="Calibri"/>
              </a:rPr>
              <a:t>🧶</a:t>
            </a:r>
            <a:endParaRPr/>
          </a:p>
        </p:txBody>
      </p:sp>
      <p:sp>
        <p:nvSpPr>
          <p:cNvPr id="308" name="Google Shape;308;p9"/>
          <p:cNvSpPr txBox="1"/>
          <p:nvPr/>
        </p:nvSpPr>
        <p:spPr>
          <a:xfrm>
            <a:off x="3137503" y="2580382"/>
            <a:ext cx="4633786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400">
                <a:solidFill>
                  <a:srgbClr val="C15C3A"/>
                </a:solidFill>
                <a:latin typeface="Calibri"/>
                <a:ea typeface="Calibri"/>
                <a:cs typeface="Calibri"/>
                <a:sym typeface="Calibri"/>
              </a:rPr>
              <a:t>Thank you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